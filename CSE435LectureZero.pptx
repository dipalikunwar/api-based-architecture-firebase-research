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6"/>
  </p:notesMasterIdLst>
  <p:sldIdLst>
    <p:sldId id="4030" r:id="rId2"/>
    <p:sldId id="4031" r:id="rId3"/>
    <p:sldId id="4032" r:id="rId4"/>
    <p:sldId id="4033" r:id="rId5"/>
    <p:sldId id="4071" r:id="rId6"/>
    <p:sldId id="4034" r:id="rId7"/>
    <p:sldId id="4072" r:id="rId8"/>
    <p:sldId id="4037" r:id="rId9"/>
    <p:sldId id="4040" r:id="rId10"/>
    <p:sldId id="4041" r:id="rId11"/>
    <p:sldId id="4076" r:id="rId12"/>
    <p:sldId id="4082" r:id="rId13"/>
    <p:sldId id="4078" r:id="rId14"/>
    <p:sldId id="4083" r:id="rId15"/>
    <p:sldId id="4084" r:id="rId16"/>
    <p:sldId id="4079" r:id="rId17"/>
    <p:sldId id="4081" r:id="rId18"/>
    <p:sldId id="4085" r:id="rId19"/>
    <p:sldId id="4070" r:id="rId20"/>
    <p:sldId id="4086" r:id="rId21"/>
    <p:sldId id="4043" r:id="rId22"/>
    <p:sldId id="4069" r:id="rId23"/>
    <p:sldId id="4066" r:id="rId24"/>
    <p:sldId id="405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p:scale>
          <a:sx n="66" d="100"/>
          <a:sy n="66" d="100"/>
        </p:scale>
        <p:origin x="600" y="32"/>
      </p:cViewPr>
      <p:guideLst/>
    </p:cSldViewPr>
  </p:slideViewPr>
  <p:notesTextViewPr>
    <p:cViewPr>
      <p:scale>
        <a:sx n="1" d="1"/>
        <a:sy n="1" d="1"/>
      </p:scale>
      <p:origin x="0" y="0"/>
    </p:cViewPr>
  </p:notesTextViewPr>
  <p:sorterViewPr>
    <p:cViewPr>
      <p:scale>
        <a:sx n="110" d="100"/>
        <a:sy n="110" d="100"/>
      </p:scale>
      <p:origin x="0" y="-62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34659-0ED1-4E51-86A0-9BBF4E66109E}" type="datetimeFigureOut">
              <a:rPr lang="en-US" smtClean="0"/>
              <a:t>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35501-1542-45B6-9AF4-9929E24FB64D}" type="slidenum">
              <a:rPr lang="en-US" smtClean="0"/>
              <a:t>‹#›</a:t>
            </a:fld>
            <a:endParaRPr lang="en-US"/>
          </a:p>
        </p:txBody>
      </p:sp>
    </p:spTree>
    <p:extLst>
      <p:ext uri="{BB962C8B-B14F-4D97-AF65-F5344CB8AC3E}">
        <p14:creationId xmlns:p14="http://schemas.microsoft.com/office/powerpoint/2010/main" val="360957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1</a:t>
            </a:fld>
            <a:endParaRPr lang="en-US"/>
          </a:p>
        </p:txBody>
      </p:sp>
    </p:spTree>
    <p:extLst>
      <p:ext uri="{BB962C8B-B14F-4D97-AF65-F5344CB8AC3E}">
        <p14:creationId xmlns:p14="http://schemas.microsoft.com/office/powerpoint/2010/main" val="1617692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3</a:t>
            </a:fld>
            <a:endParaRPr lang="en-US"/>
          </a:p>
        </p:txBody>
      </p:sp>
    </p:spTree>
    <p:extLst>
      <p:ext uri="{BB962C8B-B14F-4D97-AF65-F5344CB8AC3E}">
        <p14:creationId xmlns:p14="http://schemas.microsoft.com/office/powerpoint/2010/main" val="4013151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867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B6EE9A-1E3F-4087-B53F-F149DB8DFA0F}" type="slidenum">
              <a:rPr lang="en-IN" altLang="en-US"/>
              <a:pPr/>
              <a:t>9</a:t>
            </a:fld>
            <a:endParaRPr lang="en-IN" altLang="en-US"/>
          </a:p>
        </p:txBody>
      </p:sp>
    </p:spTree>
    <p:extLst>
      <p:ext uri="{BB962C8B-B14F-4D97-AF65-F5344CB8AC3E}">
        <p14:creationId xmlns:p14="http://schemas.microsoft.com/office/powerpoint/2010/main" val="2235751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11</a:t>
            </a:fld>
            <a:endParaRPr lang="en-US"/>
          </a:p>
        </p:txBody>
      </p:sp>
    </p:spTree>
    <p:extLst>
      <p:ext uri="{BB962C8B-B14F-4D97-AF65-F5344CB8AC3E}">
        <p14:creationId xmlns:p14="http://schemas.microsoft.com/office/powerpoint/2010/main" val="2546536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of </a:t>
            </a:r>
            <a:r>
              <a:rPr lang="en-US" b="1" dirty="0"/>
              <a:t>industry-grade technologies</a:t>
            </a:r>
            <a:endParaRPr lang="en-US" dirty="0"/>
          </a:p>
          <a:p>
            <a:r>
              <a:rPr lang="en-US" dirty="0"/>
              <a:t>Ability to </a:t>
            </a:r>
            <a:r>
              <a:rPr lang="en-US" b="1" dirty="0"/>
              <a:t>analyze real-world systems</a:t>
            </a:r>
            <a:endParaRPr lang="en-US" dirty="0"/>
          </a:p>
          <a:p>
            <a:r>
              <a:rPr lang="en-US" dirty="0"/>
              <a:t>Application of theoretical knowledge to </a:t>
            </a:r>
            <a:r>
              <a:rPr lang="en-US" b="1" dirty="0"/>
              <a:t>practical scenarios</a:t>
            </a:r>
            <a:endParaRPr lang="en-US" dirty="0"/>
          </a:p>
          <a:p>
            <a:r>
              <a:rPr lang="en-US" dirty="0"/>
              <a:t>Awareness of </a:t>
            </a:r>
            <a:r>
              <a:rPr lang="en-US" b="1" dirty="0"/>
              <a:t>current tools, platforms, and best practices</a:t>
            </a:r>
            <a:endParaRPr lang="en-US" dirty="0"/>
          </a:p>
          <a:p>
            <a:r>
              <a:rPr lang="en-US" dirty="0"/>
              <a:t>✔ Covers </a:t>
            </a:r>
            <a:r>
              <a:rPr lang="en-US" b="1" dirty="0"/>
              <a:t>technical knowledge, analysis, and application</a:t>
            </a:r>
            <a:br>
              <a:rPr lang="en-US" dirty="0"/>
            </a:br>
            <a:r>
              <a:rPr lang="en-US" dirty="0"/>
              <a:t>✔ Addresses </a:t>
            </a:r>
            <a:r>
              <a:rPr lang="en-US" b="1" dirty="0"/>
              <a:t>Bloom’s levels: Understand → Apply → Analyze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a:t>Parameter 2: Development Workflow Analysis</a:t>
            </a:r>
          </a:p>
          <a:p>
            <a:r>
              <a:rPr lang="en-US" dirty="0"/>
              <a:t>This parameter evaluates:</a:t>
            </a:r>
          </a:p>
          <a:p>
            <a:r>
              <a:rPr lang="en-US" dirty="0"/>
              <a:t>Understanding of </a:t>
            </a:r>
            <a:r>
              <a:rPr lang="en-US" b="1" dirty="0"/>
              <a:t>software development processes</a:t>
            </a:r>
            <a:endParaRPr lang="en-US" dirty="0"/>
          </a:p>
          <a:p>
            <a:r>
              <a:rPr lang="en-US" dirty="0"/>
              <a:t>Knowledge of </a:t>
            </a:r>
            <a:r>
              <a:rPr lang="en-US" b="1" dirty="0"/>
              <a:t>SDLC models and methodologies</a:t>
            </a:r>
            <a:endParaRPr lang="en-US" dirty="0"/>
          </a:p>
          <a:p>
            <a:r>
              <a:rPr lang="en-US" dirty="0"/>
              <a:t>Awareness of </a:t>
            </a:r>
            <a:r>
              <a:rPr lang="en-US" b="1" dirty="0"/>
              <a:t>team roles and collaboration</a:t>
            </a:r>
            <a:endParaRPr lang="en-US" dirty="0"/>
          </a:p>
          <a:p>
            <a:r>
              <a:rPr lang="en-US" dirty="0"/>
              <a:t>Real-world </a:t>
            </a:r>
            <a:r>
              <a:rPr lang="en-US" b="1" dirty="0"/>
              <a:t>problem-solving and delivery approach</a:t>
            </a:r>
            <a:endParaRPr lang="en-US" dirty="0"/>
          </a:p>
          <a:p>
            <a:r>
              <a:rPr lang="en-US" dirty="0"/>
              <a:t>✔ Covers </a:t>
            </a:r>
            <a:r>
              <a:rPr lang="en-US" b="1" dirty="0"/>
              <a:t>process knowledge, professional skills, and teamwork</a:t>
            </a:r>
            <a:br>
              <a:rPr lang="en-US" dirty="0"/>
            </a:br>
            <a:r>
              <a:rPr lang="en-US" dirty="0"/>
              <a:t>✔ Addresses </a:t>
            </a:r>
            <a:r>
              <a:rPr lang="en-US" b="1" dirty="0"/>
              <a:t>Bloom’s levels: Understand → Analyze → Evaluate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Faculties  must note that they should complete presentation of at least six students in class</a:t>
            </a:r>
            <a:endParaRPr lang="en-GB" dirty="0"/>
          </a:p>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17</a:t>
            </a:fld>
            <a:endParaRPr lang="en-US"/>
          </a:p>
        </p:txBody>
      </p:sp>
    </p:spTree>
    <p:extLst>
      <p:ext uri="{BB962C8B-B14F-4D97-AF65-F5344CB8AC3E}">
        <p14:creationId xmlns:p14="http://schemas.microsoft.com/office/powerpoint/2010/main" val="2932963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05BA9-0DBA-923A-93D0-510B289DB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80409-4D61-0C65-2A75-E88BED9E6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F5DF6-9BDF-7623-47D4-2112D5C5B55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D308E33-A972-446D-1DB1-9044D73330E0}"/>
              </a:ext>
            </a:extLst>
          </p:cNvPr>
          <p:cNvSpPr>
            <a:spLocks noGrp="1"/>
          </p:cNvSpPr>
          <p:nvPr>
            <p:ph type="sldNum" sz="quarter" idx="5"/>
          </p:nvPr>
        </p:nvSpPr>
        <p:spPr/>
        <p:txBody>
          <a:bodyPr/>
          <a:lstStyle/>
          <a:p>
            <a:fld id="{16F35501-1542-45B6-9AF4-9929E24FB64D}" type="slidenum">
              <a:rPr lang="en-US" smtClean="0"/>
              <a:t>18</a:t>
            </a:fld>
            <a:endParaRPr lang="en-US"/>
          </a:p>
        </p:txBody>
      </p:sp>
    </p:spTree>
    <p:extLst>
      <p:ext uri="{BB962C8B-B14F-4D97-AF65-F5344CB8AC3E}">
        <p14:creationId xmlns:p14="http://schemas.microsoft.com/office/powerpoint/2010/main" val="1627327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19</a:t>
            </a:fld>
            <a:endParaRPr lang="en-US"/>
          </a:p>
        </p:txBody>
      </p:sp>
    </p:spTree>
    <p:extLst>
      <p:ext uri="{BB962C8B-B14F-4D97-AF65-F5344CB8AC3E}">
        <p14:creationId xmlns:p14="http://schemas.microsoft.com/office/powerpoint/2010/main" val="2312150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22</a:t>
            </a:fld>
            <a:endParaRPr lang="en-US"/>
          </a:p>
        </p:txBody>
      </p:sp>
    </p:spTree>
    <p:extLst>
      <p:ext uri="{BB962C8B-B14F-4D97-AF65-F5344CB8AC3E}">
        <p14:creationId xmlns:p14="http://schemas.microsoft.com/office/powerpoint/2010/main" val="3996727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35C035-66C3-4887-AFB5-741198C05989}" type="datetime1">
              <a:rPr lang="en-IN" smtClean="0"/>
              <a:t>08-01-2026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48688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A5DD95-F8C8-4514-86FA-F689F6E88E95}" type="datetime1">
              <a:rPr lang="en-IN" smtClean="0"/>
              <a:t>08-01-2026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756596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F81670-6007-4C62-8F59-41E1CC4F9BDC}" type="datetime1">
              <a:rPr lang="en-IN" smtClean="0"/>
              <a:t>08-01-2026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497412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0E668A-9FCB-47AB-ACD6-07FD44555D1C}" type="datetime1">
              <a:rPr lang="en-IN" smtClean="0"/>
              <a:t>08-01-2026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807190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3EC513F-6A83-4B3A-BB09-049F4E61F634}" type="datetime1">
              <a:rPr lang="en-IN" smtClean="0"/>
              <a:t>08-01-2026</a:t>
            </a:fld>
            <a:endParaRPr lang="en-IN"/>
          </a:p>
        </p:txBody>
      </p:sp>
      <p:sp>
        <p:nvSpPr>
          <p:cNvPr id="8" name="Footer Placeholder 7"/>
          <p:cNvSpPr>
            <a:spLocks noGrp="1"/>
          </p:cNvSpPr>
          <p:nvPr>
            <p:ph type="ftr" sz="quarter" idx="11"/>
          </p:nvPr>
        </p:nvSpPr>
        <p:spPr/>
        <p:txBody>
          <a:bodyPr/>
          <a:lstStyle/>
          <a:p>
            <a:r>
              <a:rPr lang="en-IN"/>
              <a:t>1/15</a:t>
            </a:r>
          </a:p>
        </p:txBody>
      </p:sp>
      <p:sp>
        <p:nvSpPr>
          <p:cNvPr id="9" name="Slide Number Placeholder 8"/>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410628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799FEFD-3C69-4305-A7B6-834AA69834DB}" type="datetime1">
              <a:rPr lang="en-IN" smtClean="0"/>
              <a:t>08-01-2026</a:t>
            </a:fld>
            <a:endParaRPr lang="en-IN"/>
          </a:p>
        </p:txBody>
      </p:sp>
      <p:sp>
        <p:nvSpPr>
          <p:cNvPr id="4" name="Footer Placeholder 3"/>
          <p:cNvSpPr>
            <a:spLocks noGrp="1"/>
          </p:cNvSpPr>
          <p:nvPr>
            <p:ph type="ftr" sz="quarter" idx="11"/>
          </p:nvPr>
        </p:nvSpPr>
        <p:spPr/>
        <p:txBody>
          <a:bodyPr/>
          <a:lstStyle/>
          <a:p>
            <a:r>
              <a:rPr lang="en-IN"/>
              <a:t>1/15</a:t>
            </a:r>
          </a:p>
        </p:txBody>
      </p:sp>
      <p:sp>
        <p:nvSpPr>
          <p:cNvPr id="5" name="Slide Number Placeholder 4"/>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202963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72B8A8-40AC-4BD4-B073-C21DF81FB59C}" type="datetime1">
              <a:rPr lang="en-IN" smtClean="0"/>
              <a:t>08-01-2026</a:t>
            </a:fld>
            <a:endParaRPr lang="en-IN"/>
          </a:p>
        </p:txBody>
      </p:sp>
      <p:sp>
        <p:nvSpPr>
          <p:cNvPr id="3" name="Footer Placeholder 2"/>
          <p:cNvSpPr>
            <a:spLocks noGrp="1"/>
          </p:cNvSpPr>
          <p:nvPr>
            <p:ph type="ftr" sz="quarter" idx="11"/>
          </p:nvPr>
        </p:nvSpPr>
        <p:spPr/>
        <p:txBody>
          <a:bodyPr/>
          <a:lstStyle/>
          <a:p>
            <a:r>
              <a:rPr lang="en-IN"/>
              <a:t>1/15</a:t>
            </a:r>
          </a:p>
        </p:txBody>
      </p:sp>
      <p:sp>
        <p:nvSpPr>
          <p:cNvPr id="4" name="Slide Number Placeholder 3"/>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548984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279324-6718-4C38-A249-E09CAC183CDE}" type="datetime1">
              <a:rPr lang="en-IN" smtClean="0"/>
              <a:t>08-01-2026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767130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59F1BC8-94F8-45FC-B95B-8E7D82B4A049}" type="datetime1">
              <a:rPr lang="en-IN" smtClean="0"/>
              <a:t>08-01-2026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69636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AC8DF-4781-438A-A2D9-AAF8FD8F57EF}" type="datetime1">
              <a:rPr lang="en-IN" smtClean="0"/>
              <a:t>08-01-2026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588713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5F1F87-1041-451E-898C-31740E1620AA}" type="datetime1">
              <a:rPr lang="en-IN" smtClean="0"/>
              <a:t>08-01-2026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954337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1765631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8891486"/>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B74D95-0A6A-4FF0-A602-FE349279ABDC}" type="datetime1">
              <a:rPr lang="en-IN" smtClean="0"/>
              <a:t>08-01-2026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1/15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05F464-475C-44AD-B39D-86A1D68B524E}"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userDrawn="1"/>
        </p:nvPicPr>
        <p:blipFill>
          <a:blip r:embed="rId15"/>
          <a:stretch>
            <a:fillRect/>
          </a:stretch>
        </p:blipFill>
        <p:spPr>
          <a:xfrm>
            <a:off x="10355072" y="178307"/>
            <a:ext cx="1547520" cy="418630"/>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userDrawn="1"/>
        </p:nvPicPr>
        <p:blipFill>
          <a:blip r:embed="rId16"/>
          <a:stretch>
            <a:fillRect/>
          </a:stretch>
        </p:blipFill>
        <p:spPr>
          <a:xfrm>
            <a:off x="328281" y="178308"/>
            <a:ext cx="1581202" cy="50542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244386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72" r:id="rId12"/>
    <p:sldLayoutId id="2147483673"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hyperlink" Target="https://cloud.google.com/architecture" TargetMode="External"/><Relationship Id="rId3" Type="http://schemas.openxmlformats.org/officeDocument/2006/relationships/hyperlink" Target="https://dl.acm.org/" TargetMode="External"/><Relationship Id="rId7" Type="http://schemas.openxmlformats.org/officeDocument/2006/relationships/hyperlink" Target="https://learn.microsoft.com/" TargetMode="External"/><Relationship Id="rId2" Type="http://schemas.openxmlformats.org/officeDocument/2006/relationships/hyperlink" Target="https://ieeexplore.ieee.org/" TargetMode="External"/><Relationship Id="rId1" Type="http://schemas.openxmlformats.org/officeDocument/2006/relationships/slideLayout" Target="../slideLayouts/slideLayout2.xml"/><Relationship Id="rId6" Type="http://schemas.openxmlformats.org/officeDocument/2006/relationships/hyperlink" Target="https://scholar.google.com/" TargetMode="External"/><Relationship Id="rId5" Type="http://schemas.openxmlformats.org/officeDocument/2006/relationships/hyperlink" Target="https://link.springer.com/" TargetMode="External"/><Relationship Id="rId4" Type="http://schemas.openxmlformats.org/officeDocument/2006/relationships/hyperlink" Target="https://www.sciencedirect.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AutoShape 7"/>
          <p:cNvSpPr>
            <a:spLocks noChangeShapeType="1"/>
          </p:cNvSpPr>
          <p:nvPr/>
        </p:nvSpPr>
        <p:spPr bwMode="auto">
          <a:xfrm>
            <a:off x="685800" y="6425142"/>
            <a:ext cx="10820400" cy="0"/>
          </a:xfrm>
          <a:prstGeom prst="line">
            <a:avLst/>
          </a:prstGeom>
          <a:noFill/>
          <a:ln w="28575">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1200"/>
          </a:p>
        </p:txBody>
      </p:sp>
      <p:sp>
        <p:nvSpPr>
          <p:cNvPr id="10" name="TextBox 10"/>
          <p:cNvSpPr txBox="1"/>
          <p:nvPr/>
        </p:nvSpPr>
        <p:spPr>
          <a:xfrm>
            <a:off x="1328842" y="4439034"/>
            <a:ext cx="10034484" cy="846386"/>
          </a:xfrm>
          <a:prstGeom prst="rect">
            <a:avLst/>
          </a:prstGeom>
        </p:spPr>
        <p:txBody>
          <a:bodyPr wrap="square" lIns="0" tIns="0" rIns="0" bIns="0">
            <a:spAutoFit/>
          </a:bodyPr>
          <a:lstStyle/>
          <a:p>
            <a:pPr algn="ctr">
              <a:lnSpc>
                <a:spcPts val="7334"/>
              </a:lnSpc>
              <a:defRPr/>
            </a:pPr>
            <a:r>
              <a:rPr lang="en-US" sz="4800" b="1" dirty="0">
                <a:solidFill>
                  <a:schemeClr val="accent1">
                    <a:lumMod val="50000"/>
                  </a:schemeClr>
                </a:solidFill>
                <a:latin typeface="Times New Roman" panose="02020603050405020304" pitchFamily="18" charset="0"/>
                <a:cs typeface="Times New Roman" panose="02020603050405020304" pitchFamily="18" charset="0"/>
              </a:rPr>
              <a:t>Comprehensive Seminar</a:t>
            </a:r>
          </a:p>
        </p:txBody>
      </p:sp>
      <p:sp>
        <p:nvSpPr>
          <p:cNvPr id="11274" name="TextBox 12"/>
          <p:cNvSpPr txBox="1">
            <a:spLocks noChangeArrowheads="1"/>
          </p:cNvSpPr>
          <p:nvPr/>
        </p:nvSpPr>
        <p:spPr bwMode="auto">
          <a:xfrm>
            <a:off x="3124200" y="1398783"/>
            <a:ext cx="5943600" cy="2308324"/>
          </a:xfrm>
          <a:prstGeom prst="rect">
            <a:avLst/>
          </a:prstGeom>
          <a:noFill/>
          <a:ln w="9525">
            <a:noFill/>
            <a:miter lim="800000"/>
            <a:headEnd/>
            <a:tailEnd/>
          </a:ln>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t>CSE435</a:t>
            </a:r>
          </a:p>
          <a:p>
            <a:pPr algn="ctr">
              <a:lnSpc>
                <a:spcPts val="4484"/>
              </a:lnSpc>
            </a:pPr>
            <a:b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br>
            <a: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t>Lecture Zero</a:t>
            </a:r>
          </a:p>
          <a:p>
            <a:pPr algn="ctr">
              <a:lnSpc>
                <a:spcPts val="4484"/>
              </a:lnSpc>
            </a:pPr>
            <a:endParaRPr lang="en-US" altLang="en-US" sz="48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Rectangle 2"/>
          <p:cNvSpPr/>
          <p:nvPr/>
        </p:nvSpPr>
        <p:spPr>
          <a:xfrm>
            <a:off x="6253719" y="4985739"/>
            <a:ext cx="184731" cy="1210396"/>
          </a:xfrm>
          <a:prstGeom prst="rect">
            <a:avLst/>
          </a:prstGeom>
        </p:spPr>
        <p:txBody>
          <a:bodyPr wrap="none">
            <a:spAutoFit/>
          </a:bodyPr>
          <a:lstStyle/>
          <a:p>
            <a:pPr algn="ctr">
              <a:lnSpc>
                <a:spcPts val="4484"/>
              </a:lnSpc>
            </a:pPr>
            <a:endParaRPr lang="en-US" altLang="en-US" sz="3600" b="1" dirty="0">
              <a:solidFill>
                <a:schemeClr val="accent1">
                  <a:lumMod val="50000"/>
                </a:schemeClr>
              </a:solidFill>
              <a:latin typeface="Times New Roman" panose="02020603050405020304" pitchFamily="18" charset="0"/>
              <a:cs typeface="Times New Roman" panose="02020603050405020304" pitchFamily="18" charset="0"/>
            </a:endParaRPr>
          </a:p>
          <a:p>
            <a:pPr algn="ctr">
              <a:lnSpc>
                <a:spcPts val="4484"/>
              </a:lnSpc>
            </a:pPr>
            <a:endParaRPr lang="en-US" altLang="en-US" sz="3600" b="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75161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1825625"/>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2849033"/>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3873500"/>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4897967"/>
            <a:ext cx="516467" cy="515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9" name="TextBox 13"/>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L T P</a:t>
            </a:r>
          </a:p>
        </p:txBody>
      </p:sp>
      <p:sp>
        <p:nvSpPr>
          <p:cNvPr id="12300" name="TextBox 14"/>
          <p:cNvSpPr txBox="1">
            <a:spLocks noChangeArrowheads="1"/>
          </p:cNvSpPr>
          <p:nvPr/>
        </p:nvSpPr>
        <p:spPr bwMode="auto">
          <a:xfrm>
            <a:off x="2497667" y="1778000"/>
            <a:ext cx="2167639"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Lecture -   0</a:t>
            </a:r>
          </a:p>
        </p:txBody>
      </p:sp>
      <p:sp>
        <p:nvSpPr>
          <p:cNvPr id="12301" name="TextBox 15"/>
          <p:cNvSpPr txBox="1">
            <a:spLocks noChangeArrowheads="1"/>
          </p:cNvSpPr>
          <p:nvPr/>
        </p:nvSpPr>
        <p:spPr bwMode="auto">
          <a:xfrm>
            <a:off x="2497667" y="2772834"/>
            <a:ext cx="2234353"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Tutorial -  0</a:t>
            </a:r>
          </a:p>
        </p:txBody>
      </p:sp>
      <p:sp>
        <p:nvSpPr>
          <p:cNvPr id="12302" name="TextBox 16"/>
          <p:cNvSpPr txBox="1">
            <a:spLocks noChangeArrowheads="1"/>
          </p:cNvSpPr>
          <p:nvPr/>
        </p:nvSpPr>
        <p:spPr bwMode="auto">
          <a:xfrm>
            <a:off x="2497667" y="3810000"/>
            <a:ext cx="2167639"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Practical - 2</a:t>
            </a:r>
          </a:p>
        </p:txBody>
      </p:sp>
      <p:sp>
        <p:nvSpPr>
          <p:cNvPr id="12303" name="TextBox 17"/>
          <p:cNvSpPr txBox="1">
            <a:spLocks noChangeArrowheads="1"/>
          </p:cNvSpPr>
          <p:nvPr/>
        </p:nvSpPr>
        <p:spPr bwMode="auto">
          <a:xfrm>
            <a:off x="2497667" y="4801659"/>
            <a:ext cx="2211493" cy="110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Credits –   1</a:t>
            </a:r>
          </a:p>
          <a:p>
            <a:pPr>
              <a:lnSpc>
                <a:spcPts val="4484"/>
              </a:lnSpc>
            </a:pPr>
            <a:r>
              <a:rPr lang="en-US" altLang="en-US" sz="3200" dirty="0">
                <a:solidFill>
                  <a:srgbClr val="222222"/>
                </a:solidFill>
                <a:latin typeface="Times Neue Roman" charset="0"/>
              </a:rPr>
              <a:t> </a:t>
            </a:r>
          </a:p>
        </p:txBody>
      </p:sp>
    </p:spTree>
    <p:extLst>
      <p:ext uri="{BB962C8B-B14F-4D97-AF65-F5344CB8AC3E}">
        <p14:creationId xmlns:p14="http://schemas.microsoft.com/office/powerpoint/2010/main" val="1972666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TextBox 8"/>
          <p:cNvSpPr txBox="1">
            <a:spLocks noChangeArrowheads="1"/>
          </p:cNvSpPr>
          <p:nvPr/>
        </p:nvSpPr>
        <p:spPr bwMode="auto">
          <a:xfrm>
            <a:off x="685800" y="723901"/>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Course Outcomes</a:t>
            </a:r>
          </a:p>
        </p:txBody>
      </p:sp>
      <p:sp>
        <p:nvSpPr>
          <p:cNvPr id="13319" name="TextBox 9"/>
          <p:cNvSpPr txBox="1">
            <a:spLocks noChangeArrowheads="1"/>
          </p:cNvSpPr>
          <p:nvPr/>
        </p:nvSpPr>
        <p:spPr bwMode="auto">
          <a:xfrm>
            <a:off x="519642" y="1793875"/>
            <a:ext cx="11338983" cy="5539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tabLst>
                <a:tab pos="811213" algn="l"/>
              </a:tabLst>
            </a:pPr>
            <a:r>
              <a:rPr lang="en-US" altLang="en-US" sz="2400" b="1" dirty="0">
                <a:latin typeface="Times New Roman" panose="02020603050405020304" pitchFamily="18" charset="0"/>
                <a:cs typeface="Times New Roman" panose="02020603050405020304" pitchFamily="18" charset="0"/>
              </a:rPr>
              <a:t>CO1</a:t>
            </a:r>
            <a:r>
              <a:rPr lang="en-US" altLang="en-US"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Relate current industry or research trends and technical domains to justify the 	 	  selection of a seminar topic.</a:t>
            </a:r>
            <a:endParaRPr lang="en-US" altLang="en-US" sz="2400" dirty="0">
              <a:latin typeface="Times New Roman" panose="02020603050405020304" pitchFamily="18" charset="0"/>
              <a:cs typeface="Times New Roman" panose="02020603050405020304" pitchFamily="18" charset="0"/>
            </a:endParaRPr>
          </a:p>
          <a:p>
            <a:pPr defTabSz="982663">
              <a:tabLst>
                <a:tab pos="811213" algn="l"/>
              </a:tabLst>
            </a:pPr>
            <a:r>
              <a:rPr lang="en-US" altLang="en-US" sz="2400" b="1" dirty="0">
                <a:latin typeface="Times New Roman" panose="02020603050405020304" pitchFamily="18" charset="0"/>
                <a:cs typeface="Times New Roman" panose="02020603050405020304" pitchFamily="18" charset="0"/>
              </a:rPr>
              <a:t>CO2</a:t>
            </a:r>
            <a:r>
              <a:rPr lang="en-US" altLang="en-US"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Summarize and synthesize scholarly literature to identify key findings related to the 	  chosen seminar topic.</a:t>
            </a:r>
            <a:endParaRPr lang="en-US" altLang="en-US" sz="2400" dirty="0">
              <a:latin typeface="Times New Roman" panose="02020603050405020304" pitchFamily="18" charset="0"/>
              <a:cs typeface="Times New Roman" panose="02020603050405020304" pitchFamily="18" charset="0"/>
            </a:endParaRPr>
          </a:p>
          <a:p>
            <a:pPr lvl="0" defTabSz="720725"/>
            <a:r>
              <a:rPr lang="en-US" altLang="en-US" sz="2400" b="1" dirty="0">
                <a:latin typeface="Times New Roman" panose="02020603050405020304" pitchFamily="18" charset="0"/>
                <a:cs typeface="Times New Roman" panose="02020603050405020304" pitchFamily="18" charset="0"/>
              </a:rPr>
              <a:t>CO3::</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Apply appropriate technical or computational methods relevant to the chosen seminar 	  topic to study the identified problem.</a:t>
            </a:r>
            <a:endParaRPr lang="en-US" altLang="en-US" sz="2400" dirty="0">
              <a:latin typeface="Times New Roman" panose="02020603050405020304" pitchFamily="18" charset="0"/>
              <a:cs typeface="Times New Roman" panose="02020603050405020304" pitchFamily="18" charset="0"/>
            </a:endParaRPr>
          </a:p>
          <a:p>
            <a:pPr lvl="0">
              <a:tabLst>
                <a:tab pos="720725" algn="l"/>
              </a:tabLst>
            </a:pPr>
            <a:r>
              <a:rPr lang="en-US" altLang="en-US" sz="2400" b="1" dirty="0">
                <a:latin typeface="Times New Roman" panose="02020603050405020304" pitchFamily="18" charset="0"/>
                <a:cs typeface="Times New Roman" panose="02020603050405020304" pitchFamily="18" charset="0"/>
              </a:rPr>
              <a:t>CO4</a:t>
            </a:r>
            <a:r>
              <a:rPr lang="en-US" altLang="en-US"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Apply principles of technical communication to deliver a structured and technically	  sound seminar presentation using appropriate visual aids.</a:t>
            </a:r>
            <a:endParaRPr lang="en-US" altLang="en-US" sz="2400" dirty="0">
              <a:latin typeface="Times New Roman" panose="02020603050405020304" pitchFamily="18" charset="0"/>
              <a:cs typeface="Times New Roman" panose="02020603050405020304" pitchFamily="18" charset="0"/>
            </a:endParaRPr>
          </a:p>
          <a:p>
            <a:pPr>
              <a:tabLst>
                <a:tab pos="811213" algn="l"/>
              </a:tabLst>
            </a:pPr>
            <a:r>
              <a:rPr lang="en-US" altLang="en-US" sz="2400" b="1" dirty="0">
                <a:latin typeface="Times New Roman" panose="02020603050405020304" pitchFamily="18" charset="0"/>
                <a:cs typeface="Times New Roman" panose="02020603050405020304" pitchFamily="18" charset="0"/>
              </a:rPr>
              <a:t>CO5</a:t>
            </a:r>
            <a:r>
              <a:rPr lang="en-US" altLang="en-US"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Make use of standard scientific writing and ethical practices to prepare a well-		  organized technical seminar report.</a:t>
            </a:r>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CO6</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Explain the relevance and limitations of the chosen seminar topic and outline possible  	future directions.</a:t>
            </a:r>
            <a:endParaRPr lang="en-GB"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253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9">
            <a:extLst>
              <a:ext uri="{FF2B5EF4-FFF2-40B4-BE49-F238E27FC236}">
                <a16:creationId xmlns:a16="http://schemas.microsoft.com/office/drawing/2014/main" id="{A0AB20AD-8283-57D6-687F-0CC3DEDF4E9F}"/>
              </a:ext>
            </a:extLst>
          </p:cNvPr>
          <p:cNvSpPr txBox="1">
            <a:spLocks noChangeArrowheads="1"/>
          </p:cNvSpPr>
          <p:nvPr/>
        </p:nvSpPr>
        <p:spPr bwMode="auto">
          <a:xfrm>
            <a:off x="333807" y="1245796"/>
            <a:ext cx="11524385" cy="50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PO-1</a:t>
            </a:r>
            <a:r>
              <a:rPr lang="en-US" altLang="en-US" dirty="0">
                <a:solidFill>
                  <a:srgbClr val="222222"/>
                </a:solidFill>
                <a:latin typeface="Times New Roman" panose="02020603050405020304" pitchFamily="18" charset="0"/>
                <a:cs typeface="Times New Roman" panose="02020603050405020304" pitchFamily="18" charset="0"/>
              </a:rPr>
              <a:t> Engineering knowledge::Apply the knowledge of mathematics, science, engineering fundamentals, and an engineering specialization to the solution of complex engineering problems.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PO-2</a:t>
            </a:r>
            <a:r>
              <a:rPr lang="en-US" altLang="en-US" dirty="0">
                <a:solidFill>
                  <a:srgbClr val="222222"/>
                </a:solidFill>
                <a:latin typeface="Times New Roman" panose="02020603050405020304" pitchFamily="18" charset="0"/>
                <a:cs typeface="Times New Roman" panose="02020603050405020304" pitchFamily="18" charset="0"/>
              </a:rPr>
              <a:t>  Problem analysis::Identify, formulate, research literature, and analyze complex engineering problems reaching substantiated conclusions using first principles of mathematics, natural sciences, and engineering sciences.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PO-3</a:t>
            </a:r>
            <a:r>
              <a:rPr lang="en-US" altLang="en-US" dirty="0">
                <a:solidFill>
                  <a:srgbClr val="222222"/>
                </a:solidFill>
                <a:latin typeface="Times New Roman" panose="02020603050405020304" pitchFamily="18" charset="0"/>
                <a:cs typeface="Times New Roman" panose="02020603050405020304" pitchFamily="18" charset="0"/>
              </a:rPr>
              <a:t> Design/development of solutions::Design solutions for complex engineering problems and design system components or processes that meet the specified needs with appropriate consideration for the public health and safety, and the cultural, societal, and environmental considerations.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PO4: </a:t>
            </a:r>
            <a:r>
              <a:rPr lang="en-US" altLang="en-US" dirty="0">
                <a:solidFill>
                  <a:srgbClr val="222222"/>
                </a:solidFill>
                <a:latin typeface="Times New Roman" panose="02020603050405020304" pitchFamily="18" charset="0"/>
                <a:cs typeface="Times New Roman" panose="02020603050405020304" pitchFamily="18" charset="0"/>
              </a:rPr>
              <a:t>Investigation: Conduct investigations, design experiments, analyze data, and synthesize information. </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PO5: </a:t>
            </a:r>
            <a:r>
              <a:rPr lang="en-US" altLang="en-US" dirty="0">
                <a:solidFill>
                  <a:srgbClr val="222222"/>
                </a:solidFill>
                <a:latin typeface="Times New Roman" panose="02020603050405020304" pitchFamily="18" charset="0"/>
                <a:cs typeface="Times New Roman" panose="02020603050405020304" pitchFamily="18" charset="0"/>
              </a:rPr>
              <a:t>Modern Tool Usage: Use appropriate modern tools and IT for engineering activities, understanding their limitations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PO-6</a:t>
            </a:r>
            <a:r>
              <a:rPr lang="en-US" altLang="en-US" dirty="0">
                <a:solidFill>
                  <a:srgbClr val="222222"/>
                </a:solidFill>
                <a:latin typeface="Times New Roman" panose="02020603050405020304" pitchFamily="18" charset="0"/>
                <a:cs typeface="Times New Roman" panose="02020603050405020304" pitchFamily="18" charset="0"/>
              </a:rPr>
              <a:t> The engineer and society::Apply reasoning informed by the contextual knowledge to assess societal, health, safety, legal and cultural issues and the consequent responsibilities relevant to the professional engineering practice.</a:t>
            </a:r>
          </a:p>
        </p:txBody>
      </p:sp>
      <p:sp>
        <p:nvSpPr>
          <p:cNvPr id="3" name="TextBox 2">
            <a:extLst>
              <a:ext uri="{FF2B5EF4-FFF2-40B4-BE49-F238E27FC236}">
                <a16:creationId xmlns:a16="http://schemas.microsoft.com/office/drawing/2014/main" id="{72CEBA81-A663-12A7-A5CA-A74752791D45}"/>
              </a:ext>
            </a:extLst>
          </p:cNvPr>
          <p:cNvSpPr txBox="1">
            <a:spLocks noChangeArrowheads="1"/>
          </p:cNvSpPr>
          <p:nvPr/>
        </p:nvSpPr>
        <p:spPr bwMode="auto">
          <a:xfrm>
            <a:off x="685800" y="418266"/>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Program Outcomes</a:t>
            </a:r>
          </a:p>
        </p:txBody>
      </p:sp>
    </p:spTree>
    <p:extLst>
      <p:ext uri="{BB962C8B-B14F-4D97-AF65-F5344CB8AC3E}">
        <p14:creationId xmlns:p14="http://schemas.microsoft.com/office/powerpoint/2010/main" val="1488116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ECEB03B-1255-629E-5AB5-6E812CB61F37}"/>
              </a:ext>
            </a:extLst>
          </p:cNvPr>
          <p:cNvSpPr txBox="1"/>
          <p:nvPr/>
        </p:nvSpPr>
        <p:spPr>
          <a:xfrm>
            <a:off x="125730" y="1415209"/>
            <a:ext cx="12066270" cy="4653646"/>
          </a:xfrm>
          <a:prstGeom prst="rect">
            <a:avLst/>
          </a:prstGeom>
          <a:noFill/>
        </p:spPr>
        <p:txBody>
          <a:bodyPr wrap="square">
            <a:spAutoFit/>
          </a:bodyPr>
          <a:lstStyle/>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PO6: </a:t>
            </a:r>
            <a:r>
              <a:rPr lang="en-US" altLang="en-US" sz="2000" dirty="0">
                <a:solidFill>
                  <a:srgbClr val="222222"/>
                </a:solidFill>
                <a:latin typeface="Times New Roman" panose="02020603050405020304" pitchFamily="18" charset="0"/>
                <a:cs typeface="Times New Roman" panose="02020603050405020304" pitchFamily="18" charset="0"/>
              </a:rPr>
              <a:t>Engineer &amp; Society: Recognize professional responsibilities, societal, health, safety, legal, and cultural issues. </a:t>
            </a:r>
          </a:p>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PO7: </a:t>
            </a:r>
            <a:r>
              <a:rPr lang="en-US" altLang="en-US" sz="2000" dirty="0">
                <a:solidFill>
                  <a:srgbClr val="222222"/>
                </a:solidFill>
                <a:latin typeface="Times New Roman" panose="02020603050405020304" pitchFamily="18" charset="0"/>
                <a:cs typeface="Times New Roman" panose="02020603050405020304" pitchFamily="18" charset="0"/>
              </a:rPr>
              <a:t>Environment &amp; Sustainability: Understand environmental impact and work towards sustainable development. </a:t>
            </a:r>
          </a:p>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PO8</a:t>
            </a:r>
            <a:r>
              <a:rPr lang="en-US" altLang="en-US" sz="2000" dirty="0">
                <a:solidFill>
                  <a:srgbClr val="222222"/>
                </a:solidFill>
                <a:latin typeface="Times New Roman" panose="02020603050405020304" pitchFamily="18" charset="0"/>
                <a:cs typeface="Times New Roman" panose="02020603050405020304" pitchFamily="18" charset="0"/>
              </a:rPr>
              <a:t>: Ethics: Practice engineering ethically and responsibly. </a:t>
            </a:r>
          </a:p>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PO9</a:t>
            </a:r>
            <a:r>
              <a:rPr lang="en-US" altLang="en-US" sz="2000" dirty="0">
                <a:solidFill>
                  <a:srgbClr val="222222"/>
                </a:solidFill>
                <a:latin typeface="Times New Roman" panose="02020603050405020304" pitchFamily="18" charset="0"/>
                <a:cs typeface="Times New Roman" panose="02020603050405020304" pitchFamily="18" charset="0"/>
              </a:rPr>
              <a:t>: Individual &amp; Team Work: Function effectively in teams, individual roles, and multidisciplinary settings. </a:t>
            </a:r>
          </a:p>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PO10</a:t>
            </a:r>
            <a:r>
              <a:rPr lang="en-US" altLang="en-US" sz="2000" dirty="0">
                <a:solidFill>
                  <a:srgbClr val="222222"/>
                </a:solidFill>
                <a:latin typeface="Times New Roman" panose="02020603050405020304" pitchFamily="18" charset="0"/>
                <a:cs typeface="Times New Roman" panose="02020603050405020304" pitchFamily="18" charset="0"/>
              </a:rPr>
              <a:t>: Communication: Communicate effectively with engineering and non-engineering audiences.</a:t>
            </a:r>
          </a:p>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PO11: </a:t>
            </a:r>
            <a:r>
              <a:rPr lang="en-US" altLang="en-US" sz="2000" dirty="0">
                <a:solidFill>
                  <a:srgbClr val="222222"/>
                </a:solidFill>
                <a:latin typeface="Times New Roman" panose="02020603050405020304" pitchFamily="18" charset="0"/>
                <a:cs typeface="Times New Roman" panose="02020603050405020304" pitchFamily="18" charset="0"/>
              </a:rPr>
              <a:t>Project Management: Demonstrate knowledge of engineering and management principles for managing projects, finance, and risk.</a:t>
            </a:r>
          </a:p>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PO12</a:t>
            </a:r>
            <a:r>
              <a:rPr lang="en-US" altLang="en-US" sz="2000" dirty="0">
                <a:solidFill>
                  <a:srgbClr val="222222"/>
                </a:solidFill>
                <a:latin typeface="Times New Roman" panose="02020603050405020304" pitchFamily="18" charset="0"/>
                <a:cs typeface="Times New Roman" panose="02020603050405020304" pitchFamily="18" charset="0"/>
              </a:rPr>
              <a:t>: Lifelong Learning: Engage in continuous learning and professional development. </a:t>
            </a:r>
          </a:p>
          <a:p>
            <a:pPr algn="just">
              <a:lnSpc>
                <a:spcPts val="3550"/>
              </a:lnSpc>
            </a:pPr>
            <a:r>
              <a:rPr lang="en-US" altLang="en-US" sz="2000" dirty="0">
                <a:solidFill>
                  <a:srgbClr val="222222"/>
                </a:solidFill>
                <a:latin typeface="Times New Roman" panose="02020603050405020304" pitchFamily="18" charset="0"/>
                <a:cs typeface="Times New Roman" panose="02020603050405020304" pitchFamily="18" charset="0"/>
              </a:rPr>
              <a:t>PO-13  Competitive Skills::Ability to compete in national and international technical events and building the competitive spirit</a:t>
            </a:r>
          </a:p>
        </p:txBody>
      </p:sp>
      <p:sp>
        <p:nvSpPr>
          <p:cNvPr id="9" name="TextBox 8">
            <a:extLst>
              <a:ext uri="{FF2B5EF4-FFF2-40B4-BE49-F238E27FC236}">
                <a16:creationId xmlns:a16="http://schemas.microsoft.com/office/drawing/2014/main" id="{CF89AAA9-6C37-30CB-2B4E-B0757434D37B}"/>
              </a:ext>
            </a:extLst>
          </p:cNvPr>
          <p:cNvSpPr txBox="1">
            <a:spLocks noChangeArrowheads="1"/>
          </p:cNvSpPr>
          <p:nvPr/>
        </p:nvSpPr>
        <p:spPr bwMode="auto">
          <a:xfrm>
            <a:off x="685800" y="418266"/>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Program Outcomes</a:t>
            </a:r>
          </a:p>
        </p:txBody>
      </p:sp>
    </p:spTree>
    <p:extLst>
      <p:ext uri="{BB962C8B-B14F-4D97-AF65-F5344CB8AC3E}">
        <p14:creationId xmlns:p14="http://schemas.microsoft.com/office/powerpoint/2010/main" val="480841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TextBox 8"/>
          <p:cNvSpPr txBox="1">
            <a:spLocks noChangeArrowheads="1"/>
          </p:cNvSpPr>
          <p:nvPr/>
        </p:nvSpPr>
        <p:spPr bwMode="auto">
          <a:xfrm>
            <a:off x="387772" y="879177"/>
            <a:ext cx="11152717"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Program Specific Outcomes</a:t>
            </a:r>
          </a:p>
        </p:txBody>
      </p:sp>
      <p:sp>
        <p:nvSpPr>
          <p:cNvPr id="15367" name="TextBox 9"/>
          <p:cNvSpPr txBox="1">
            <a:spLocks noChangeArrowheads="1"/>
          </p:cNvSpPr>
          <p:nvPr/>
        </p:nvSpPr>
        <p:spPr bwMode="auto">
          <a:xfrm>
            <a:off x="353482" y="2306268"/>
            <a:ext cx="1104852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ts val="3550"/>
              </a:lnSpc>
            </a:pPr>
            <a:r>
              <a:rPr lang="en-US" altLang="en-US" sz="2400" b="1" dirty="0">
                <a:solidFill>
                  <a:srgbClr val="222222"/>
                </a:solidFill>
                <a:latin typeface="Open Sans" pitchFamily="34" charset="0"/>
              </a:rPr>
              <a:t>PSO1:</a:t>
            </a:r>
            <a:r>
              <a:rPr lang="en-US" altLang="en-US" sz="2400" dirty="0">
                <a:solidFill>
                  <a:srgbClr val="222222"/>
                </a:solidFill>
                <a:latin typeface="Open Sans" pitchFamily="34" charset="0"/>
              </a:rPr>
              <a:t> Apply basic knowledge in areas such as Software Engineering, Networking and Security, Database Management Systems, Intelligent Systems, Operating Systems, and System Architecture for building Software products.</a:t>
            </a:r>
          </a:p>
          <a:p>
            <a:pPr algn="just">
              <a:lnSpc>
                <a:spcPts val="3550"/>
              </a:lnSpc>
            </a:pPr>
            <a:endParaRPr lang="en-US" altLang="en-US" sz="2400" dirty="0">
              <a:solidFill>
                <a:srgbClr val="222222"/>
              </a:solidFill>
              <a:latin typeface="Open Sans" pitchFamily="34" charset="0"/>
            </a:endParaRPr>
          </a:p>
          <a:p>
            <a:pPr algn="just">
              <a:lnSpc>
                <a:spcPts val="3550"/>
              </a:lnSpc>
            </a:pPr>
            <a:r>
              <a:rPr lang="en-US" altLang="en-US" sz="2400" b="1" dirty="0">
                <a:solidFill>
                  <a:srgbClr val="222222"/>
                </a:solidFill>
                <a:latin typeface="Open Sans" pitchFamily="34" charset="0"/>
              </a:rPr>
              <a:t>PSO2:</a:t>
            </a:r>
            <a:r>
              <a:rPr lang="en-US" altLang="en-US" sz="2400" dirty="0">
                <a:solidFill>
                  <a:srgbClr val="222222"/>
                </a:solidFill>
                <a:latin typeface="Open Sans" pitchFamily="34" charset="0"/>
              </a:rPr>
              <a:t> Provide effective and efficient real-time solutions using attained knowledge in interdisciplinary domains for societal benefits through projects.</a:t>
            </a:r>
          </a:p>
        </p:txBody>
      </p:sp>
    </p:spTree>
    <p:extLst>
      <p:ext uri="{BB962C8B-B14F-4D97-AF65-F5344CB8AC3E}">
        <p14:creationId xmlns:p14="http://schemas.microsoft.com/office/powerpoint/2010/main" val="2184795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A5DCDD6-2E2F-3E61-4847-121C7A4313F3}"/>
              </a:ext>
            </a:extLst>
          </p:cNvPr>
          <p:cNvSpPr>
            <a:spLocks noGrp="1"/>
          </p:cNvSpPr>
          <p:nvPr>
            <p:ph type="ftr" sz="quarter" idx="11"/>
          </p:nvPr>
        </p:nvSpPr>
        <p:spPr/>
        <p:txBody>
          <a:bodyPr/>
          <a:lstStyle/>
          <a:p>
            <a:r>
              <a:rPr lang="en-IN"/>
              <a:t>1/15</a:t>
            </a:r>
          </a:p>
        </p:txBody>
      </p:sp>
      <p:sp>
        <p:nvSpPr>
          <p:cNvPr id="4" name="TextBox 3">
            <a:extLst>
              <a:ext uri="{FF2B5EF4-FFF2-40B4-BE49-F238E27FC236}">
                <a16:creationId xmlns:a16="http://schemas.microsoft.com/office/drawing/2014/main" id="{08DA4502-593D-431E-1619-B712A9B6E19D}"/>
              </a:ext>
            </a:extLst>
          </p:cNvPr>
          <p:cNvSpPr txBox="1"/>
          <p:nvPr/>
        </p:nvSpPr>
        <p:spPr>
          <a:xfrm>
            <a:off x="488633" y="1268263"/>
            <a:ext cx="6097904" cy="2606676"/>
          </a:xfrm>
          <a:prstGeom prst="rect">
            <a:avLst/>
          </a:prstGeom>
          <a:noFill/>
        </p:spPr>
        <p:txBody>
          <a:bodyPr wrap="square">
            <a:spAutoFit/>
          </a:bodyPr>
          <a:lstStyle/>
          <a:p>
            <a:pPr>
              <a:lnSpc>
                <a:spcPct val="115000"/>
              </a:lnSpc>
              <a:spcAft>
                <a:spcPts val="1000"/>
              </a:spcAft>
              <a:buNone/>
            </a:pPr>
            <a:r>
              <a:rPr lang="en-US" sz="2400" b="1" dirty="0">
                <a:effectLst/>
                <a:latin typeface="Times New Roman" panose="02020603050405020304" pitchFamily="18" charset="0"/>
                <a:ea typeface="MS Mincho" panose="02020609040205080304" pitchFamily="49" charset="-128"/>
                <a:cs typeface="Times New Roman" panose="02020603050405020304" pitchFamily="18" charset="0"/>
              </a:rPr>
              <a:t>Mapping Scale:</a:t>
            </a:r>
            <a:b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t>3 – Strong correlation</a:t>
            </a:r>
            <a:b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t>2 – Moderate correlation</a:t>
            </a:r>
            <a:b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t>1 – Low correlation</a:t>
            </a:r>
            <a:b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t>– No direct correlation</a:t>
            </a:r>
            <a:b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br>
            <a:endParaRPr lang="en-GB" sz="24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 name="TextBox 4">
            <a:extLst>
              <a:ext uri="{FF2B5EF4-FFF2-40B4-BE49-F238E27FC236}">
                <a16:creationId xmlns:a16="http://schemas.microsoft.com/office/drawing/2014/main" id="{4A7BA6B6-F663-EA7B-61F1-5D259CBA282B}"/>
              </a:ext>
            </a:extLst>
          </p:cNvPr>
          <p:cNvSpPr txBox="1">
            <a:spLocks noChangeArrowheads="1"/>
          </p:cNvSpPr>
          <p:nvPr/>
        </p:nvSpPr>
        <p:spPr bwMode="auto">
          <a:xfrm>
            <a:off x="685800" y="418266"/>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PO-CO Mapping Table</a:t>
            </a:r>
          </a:p>
        </p:txBody>
      </p:sp>
      <p:graphicFrame>
        <p:nvGraphicFramePr>
          <p:cNvPr id="6" name="Table 5">
            <a:extLst>
              <a:ext uri="{FF2B5EF4-FFF2-40B4-BE49-F238E27FC236}">
                <a16:creationId xmlns:a16="http://schemas.microsoft.com/office/drawing/2014/main" id="{F92D7393-9565-A9EE-CE88-82A8921A4010}"/>
              </a:ext>
            </a:extLst>
          </p:cNvPr>
          <p:cNvGraphicFramePr>
            <a:graphicFrameLocks noGrp="1"/>
          </p:cNvGraphicFramePr>
          <p:nvPr>
            <p:extLst>
              <p:ext uri="{D42A27DB-BD31-4B8C-83A1-F6EECF244321}">
                <p14:modId xmlns:p14="http://schemas.microsoft.com/office/powerpoint/2010/main" val="1097289760"/>
              </p:ext>
            </p:extLst>
          </p:nvPr>
        </p:nvGraphicFramePr>
        <p:xfrm>
          <a:off x="548640" y="3528695"/>
          <a:ext cx="9944102" cy="2954655"/>
        </p:xfrm>
        <a:graphic>
          <a:graphicData uri="http://schemas.openxmlformats.org/drawingml/2006/table">
            <a:tbl>
              <a:tblPr firstRow="1" firstCol="1" bandRow="1">
                <a:tableStyleId>{5940675A-B579-460E-94D1-54222C63F5DA}</a:tableStyleId>
              </a:tblPr>
              <a:tblGrid>
                <a:gridCol w="3982574">
                  <a:extLst>
                    <a:ext uri="{9D8B030D-6E8A-4147-A177-3AD203B41FA5}">
                      <a16:colId xmlns:a16="http://schemas.microsoft.com/office/drawing/2014/main" val="836914555"/>
                    </a:ext>
                  </a:extLst>
                </a:gridCol>
                <a:gridCol w="993588">
                  <a:extLst>
                    <a:ext uri="{9D8B030D-6E8A-4147-A177-3AD203B41FA5}">
                      <a16:colId xmlns:a16="http://schemas.microsoft.com/office/drawing/2014/main" val="1052330848"/>
                    </a:ext>
                  </a:extLst>
                </a:gridCol>
                <a:gridCol w="993588">
                  <a:extLst>
                    <a:ext uri="{9D8B030D-6E8A-4147-A177-3AD203B41FA5}">
                      <a16:colId xmlns:a16="http://schemas.microsoft.com/office/drawing/2014/main" val="324417896"/>
                    </a:ext>
                  </a:extLst>
                </a:gridCol>
                <a:gridCol w="993588">
                  <a:extLst>
                    <a:ext uri="{9D8B030D-6E8A-4147-A177-3AD203B41FA5}">
                      <a16:colId xmlns:a16="http://schemas.microsoft.com/office/drawing/2014/main" val="359938572"/>
                    </a:ext>
                  </a:extLst>
                </a:gridCol>
                <a:gridCol w="993588">
                  <a:extLst>
                    <a:ext uri="{9D8B030D-6E8A-4147-A177-3AD203B41FA5}">
                      <a16:colId xmlns:a16="http://schemas.microsoft.com/office/drawing/2014/main" val="2757158994"/>
                    </a:ext>
                  </a:extLst>
                </a:gridCol>
                <a:gridCol w="993588">
                  <a:extLst>
                    <a:ext uri="{9D8B030D-6E8A-4147-A177-3AD203B41FA5}">
                      <a16:colId xmlns:a16="http://schemas.microsoft.com/office/drawing/2014/main" val="1670924263"/>
                    </a:ext>
                  </a:extLst>
                </a:gridCol>
                <a:gridCol w="993588">
                  <a:extLst>
                    <a:ext uri="{9D8B030D-6E8A-4147-A177-3AD203B41FA5}">
                      <a16:colId xmlns:a16="http://schemas.microsoft.com/office/drawing/2014/main" val="566708875"/>
                    </a:ext>
                  </a:extLst>
                </a:gridCol>
              </a:tblGrid>
              <a:tr h="0">
                <a:tc>
                  <a:txBody>
                    <a:bodyPr/>
                    <a:lstStyle/>
                    <a:p>
                      <a:pPr>
                        <a:lnSpc>
                          <a:spcPct val="115000"/>
                        </a:lnSpc>
                        <a:spcAft>
                          <a:spcPts val="1000"/>
                        </a:spcAft>
                        <a:buNone/>
                      </a:pPr>
                      <a:r>
                        <a:rPr lang="en-US" sz="2000" b="1" dirty="0">
                          <a:effectLst/>
                        </a:rPr>
                        <a:t>PO \ CO</a:t>
                      </a:r>
                      <a:endParaRPr lang="en-GB" sz="20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CO1</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CO2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CO3</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CO4</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CO5</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dirty="0">
                          <a:effectLst/>
                        </a:rPr>
                        <a:t>CO6</a:t>
                      </a:r>
                      <a:endParaRPr lang="en-GB" sz="20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2509408408"/>
                  </a:ext>
                </a:extLst>
              </a:tr>
              <a:tr h="0">
                <a:tc>
                  <a:txBody>
                    <a:bodyPr/>
                    <a:lstStyle/>
                    <a:p>
                      <a:pPr>
                        <a:lnSpc>
                          <a:spcPct val="115000"/>
                        </a:lnSpc>
                        <a:spcAft>
                          <a:spcPts val="1000"/>
                        </a:spcAft>
                        <a:buNone/>
                      </a:pPr>
                      <a:r>
                        <a:rPr lang="en-US" sz="2000" b="1" dirty="0">
                          <a:effectLst/>
                        </a:rPr>
                        <a:t>PO1 – Engineering Knowledge</a:t>
                      </a:r>
                      <a:endParaRPr lang="en-GB" sz="20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3</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dirty="0">
                          <a:effectLst/>
                        </a:rPr>
                        <a:t>1</a:t>
                      </a:r>
                      <a:endParaRPr lang="en-GB" sz="20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1488836995"/>
                  </a:ext>
                </a:extLst>
              </a:tr>
              <a:tr h="0">
                <a:tc>
                  <a:txBody>
                    <a:bodyPr/>
                    <a:lstStyle/>
                    <a:p>
                      <a:pPr>
                        <a:lnSpc>
                          <a:spcPct val="115000"/>
                        </a:lnSpc>
                        <a:spcAft>
                          <a:spcPts val="1000"/>
                        </a:spcAft>
                        <a:buNone/>
                      </a:pPr>
                      <a:r>
                        <a:rPr lang="en-US" sz="2000" b="1">
                          <a:effectLst/>
                        </a:rPr>
                        <a:t>PO2 – Problem Analysis</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3</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3</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359780820"/>
                  </a:ext>
                </a:extLst>
              </a:tr>
              <a:tr h="0">
                <a:tc>
                  <a:txBody>
                    <a:bodyPr/>
                    <a:lstStyle/>
                    <a:p>
                      <a:pPr>
                        <a:lnSpc>
                          <a:spcPct val="115000"/>
                        </a:lnSpc>
                        <a:spcAft>
                          <a:spcPts val="1000"/>
                        </a:spcAft>
                        <a:buNone/>
                      </a:pPr>
                      <a:r>
                        <a:rPr lang="en-US" sz="2000" b="1">
                          <a:effectLst/>
                        </a:rPr>
                        <a:t>PO4 – Investigation</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1</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2453849205"/>
                  </a:ext>
                </a:extLst>
              </a:tr>
              <a:tr h="0">
                <a:tc>
                  <a:txBody>
                    <a:bodyPr/>
                    <a:lstStyle/>
                    <a:p>
                      <a:pPr>
                        <a:lnSpc>
                          <a:spcPct val="115000"/>
                        </a:lnSpc>
                        <a:spcAft>
                          <a:spcPts val="1000"/>
                        </a:spcAft>
                        <a:buNone/>
                      </a:pPr>
                      <a:r>
                        <a:rPr lang="en-US" sz="2000" b="1">
                          <a:effectLst/>
                        </a:rPr>
                        <a:t>PO5 – Modern Tool Usage</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1</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1</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2856615909"/>
                  </a:ext>
                </a:extLst>
              </a:tr>
              <a:tr h="0">
                <a:tc>
                  <a:txBody>
                    <a:bodyPr/>
                    <a:lstStyle/>
                    <a:p>
                      <a:pPr>
                        <a:lnSpc>
                          <a:spcPct val="115000"/>
                        </a:lnSpc>
                        <a:spcAft>
                          <a:spcPts val="1000"/>
                        </a:spcAft>
                        <a:buNone/>
                      </a:pPr>
                      <a:r>
                        <a:rPr lang="en-US" sz="2000" b="1">
                          <a:effectLst/>
                        </a:rPr>
                        <a:t>PO6 – Engineer &amp; Society</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1</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1</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1814034282"/>
                  </a:ext>
                </a:extLst>
              </a:tr>
              <a:tr h="0">
                <a:tc>
                  <a:txBody>
                    <a:bodyPr/>
                    <a:lstStyle/>
                    <a:p>
                      <a:pPr>
                        <a:lnSpc>
                          <a:spcPct val="115000"/>
                        </a:lnSpc>
                        <a:spcAft>
                          <a:spcPts val="1000"/>
                        </a:spcAft>
                        <a:buNone/>
                      </a:pPr>
                      <a:r>
                        <a:rPr lang="en-US" sz="2000" b="1">
                          <a:effectLst/>
                        </a:rPr>
                        <a:t>PO8 – Ethics</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3</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1</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816317620"/>
                  </a:ext>
                </a:extLst>
              </a:tr>
              <a:tr h="0">
                <a:tc>
                  <a:txBody>
                    <a:bodyPr/>
                    <a:lstStyle/>
                    <a:p>
                      <a:pPr>
                        <a:lnSpc>
                          <a:spcPct val="115000"/>
                        </a:lnSpc>
                        <a:spcAft>
                          <a:spcPts val="1000"/>
                        </a:spcAft>
                        <a:buNone/>
                      </a:pPr>
                      <a:r>
                        <a:rPr lang="en-US" sz="2000" b="1">
                          <a:effectLst/>
                        </a:rPr>
                        <a:t>PO10 – Communication</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3</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3099009673"/>
                  </a:ext>
                </a:extLst>
              </a:tr>
              <a:tr h="0">
                <a:tc>
                  <a:txBody>
                    <a:bodyPr/>
                    <a:lstStyle/>
                    <a:p>
                      <a:pPr>
                        <a:lnSpc>
                          <a:spcPct val="115000"/>
                        </a:lnSpc>
                        <a:spcAft>
                          <a:spcPts val="1000"/>
                        </a:spcAft>
                        <a:buNone/>
                      </a:pPr>
                      <a:r>
                        <a:rPr lang="en-US" sz="2000" b="1">
                          <a:effectLst/>
                        </a:rPr>
                        <a:t>PO12 – Lifelong Learning</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2</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a:effectLst/>
                        </a:rPr>
                        <a:t>-</a:t>
                      </a:r>
                      <a:endParaRPr lang="en-GB" sz="20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tc>
                  <a:txBody>
                    <a:bodyPr/>
                    <a:lstStyle/>
                    <a:p>
                      <a:pPr>
                        <a:lnSpc>
                          <a:spcPct val="115000"/>
                        </a:lnSpc>
                        <a:spcAft>
                          <a:spcPts val="1000"/>
                        </a:spcAft>
                        <a:buNone/>
                      </a:pPr>
                      <a:r>
                        <a:rPr lang="en-US" sz="2000" b="1" dirty="0">
                          <a:effectLst/>
                        </a:rPr>
                        <a:t>2</a:t>
                      </a:r>
                      <a:endParaRPr lang="en-GB" sz="20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59001" marR="59001" marT="0" marB="0"/>
                </a:tc>
                <a:extLst>
                  <a:ext uri="{0D108BD9-81ED-4DB2-BD59-A6C34878D82A}">
                    <a16:rowId xmlns:a16="http://schemas.microsoft.com/office/drawing/2014/main" val="3460630858"/>
                  </a:ext>
                </a:extLst>
              </a:tr>
            </a:tbl>
          </a:graphicData>
        </a:graphic>
      </p:graphicFrame>
    </p:spTree>
    <p:extLst>
      <p:ext uri="{BB962C8B-B14F-4D97-AF65-F5344CB8AC3E}">
        <p14:creationId xmlns:p14="http://schemas.microsoft.com/office/powerpoint/2010/main" val="2870837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Box 8"/>
          <p:cNvSpPr txBox="1">
            <a:spLocks noChangeArrowheads="1"/>
          </p:cNvSpPr>
          <p:nvPr/>
        </p:nvSpPr>
        <p:spPr bwMode="auto">
          <a:xfrm>
            <a:off x="464975" y="602814"/>
            <a:ext cx="11262049" cy="70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latin typeface="Times New Roman" panose="02020603050405020304" pitchFamily="18" charset="0"/>
                <a:cs typeface="Times New Roman" panose="02020603050405020304" pitchFamily="18" charset="0"/>
              </a:rPr>
              <a:t>Course Contents Overview</a:t>
            </a:r>
            <a:endParaRPr lang="en-US" altLang="en-US" sz="4400" b="1" dirty="0">
              <a:solidFill>
                <a:srgbClr val="222222"/>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99265" y="1767580"/>
            <a:ext cx="11262049"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This course does not follow a fixed unit-wise syllabus. Instead, it focuses on a </a:t>
            </a:r>
            <a:r>
              <a:rPr lang="en-US" sz="2800" b="1" dirty="0">
                <a:latin typeface="Times New Roman" panose="02020603050405020304" pitchFamily="18" charset="0"/>
                <a:cs typeface="Times New Roman" panose="02020603050405020304" pitchFamily="18" charset="0"/>
              </a:rPr>
              <a:t>student-driven seminar process</a:t>
            </a:r>
            <a:r>
              <a:rPr lang="en-US" sz="2800" dirty="0">
                <a:latin typeface="Times New Roman" panose="02020603050405020304" pitchFamily="18" charset="0"/>
                <a:cs typeface="Times New Roman" panose="02020603050405020304" pitchFamily="18" charset="0"/>
              </a:rPr>
              <a:t> that includes: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Identification of a relevant research or industry topic, review of literature, formulation of a clear problem statement, adoption of an appropriate methodology, and presentation of findings through seminars and reports</a:t>
            </a:r>
          </a:p>
          <a:p>
            <a:pPr algn="just"/>
            <a:endParaRPr lang="en-US" sz="2800" dirty="0">
              <a:latin typeface="Times New Roman" panose="02020603050405020304" pitchFamily="18" charset="0"/>
              <a:ea typeface="Open Sans" panose="020B0604020202020204" pitchFamily="34"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course emphasizes technical communication, scientific writing, ethical practices, and active participation in academic discussions.</a:t>
            </a:r>
            <a:endParaRPr lang="en-US" sz="2800" dirty="0">
              <a:latin typeface="Times New Roman" panose="02020603050405020304" pitchFamily="18" charset="0"/>
              <a:ea typeface="Open Sans"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338630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5" name="Group 3"/>
          <p:cNvGrpSpPr>
            <a:grpSpLocks/>
          </p:cNvGrpSpPr>
          <p:nvPr/>
        </p:nvGrpSpPr>
        <p:grpSpPr bwMode="auto">
          <a:xfrm>
            <a:off x="7592905" y="1994348"/>
            <a:ext cx="2665122" cy="4570542"/>
            <a:chOff x="0" y="0"/>
            <a:chExt cx="660400" cy="812800"/>
          </a:xfrm>
        </p:grpSpPr>
        <p:sp>
          <p:nvSpPr>
            <p:cNvPr id="18455" name="Freeform 4"/>
            <p:cNvSpPr>
              <a:spLocks/>
            </p:cNvSpPr>
            <p:nvPr/>
          </p:nvSpPr>
          <p:spPr bwMode="auto">
            <a:xfrm>
              <a:off x="0" y="0"/>
              <a:ext cx="660400" cy="812800"/>
            </a:xfrm>
            <a:custGeom>
              <a:avLst/>
              <a:gdLst>
                <a:gd name="T0" fmla="*/ 220252 w 660400"/>
                <a:gd name="T1" fmla="*/ 19070 h 812800"/>
                <a:gd name="T2" fmla="*/ 330378 w 660400"/>
                <a:gd name="T3" fmla="*/ 0 h 812800"/>
                <a:gd name="T4" fmla="*/ 438009 w 660400"/>
                <a:gd name="T5" fmla="*/ 17990 h 812800"/>
                <a:gd name="T6" fmla="*/ 440148 w 660400"/>
                <a:gd name="T7" fmla="*/ 18710 h 812800"/>
                <a:gd name="T8" fmla="*/ 660400 w 660400"/>
                <a:gd name="T9" fmla="*/ 328502 h 812800"/>
                <a:gd name="T10" fmla="*/ 660400 w 660400"/>
                <a:gd name="T11" fmla="*/ 812800 h 812800"/>
                <a:gd name="T12" fmla="*/ 0 w 660400"/>
                <a:gd name="T13" fmla="*/ 812800 h 812800"/>
                <a:gd name="T14" fmla="*/ 0 w 660400"/>
                <a:gd name="T15" fmla="*/ 328861 h 812800"/>
                <a:gd name="T16" fmla="*/ 220252 w 660400"/>
                <a:gd name="T17" fmla="*/ 19070 h 8128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0400"/>
                <a:gd name="T28" fmla="*/ 0 h 812800"/>
                <a:gd name="T29" fmla="*/ 660400 w 660400"/>
                <a:gd name="T30" fmla="*/ 812800 h 8128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BE8D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sz="2000"/>
            </a:p>
          </p:txBody>
        </p:sp>
        <p:sp>
          <p:nvSpPr>
            <p:cNvPr id="18456" name="TextBox 5"/>
            <p:cNvSpPr txBox="1">
              <a:spLocks noChangeArrowheads="1"/>
            </p:cNvSpPr>
            <p:nvPr/>
          </p:nvSpPr>
          <p:spPr bwMode="auto">
            <a:xfrm>
              <a:off x="0" y="88900"/>
              <a:ext cx="6604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867" tIns="33867" rIns="33867" bIns="33867"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1775"/>
                </a:lnSpc>
              </a:pPr>
              <a:endParaRPr lang="en-US" altLang="en-US" sz="2000">
                <a:latin typeface="Calibri" panose="020F0502020204030204" pitchFamily="34" charset="0"/>
              </a:endParaRPr>
            </a:p>
          </p:txBody>
        </p:sp>
      </p:grpSp>
      <p:sp>
        <p:nvSpPr>
          <p:cNvPr id="18440" name="TextBox 14"/>
          <p:cNvSpPr txBox="1">
            <a:spLocks noChangeArrowheads="1"/>
          </p:cNvSpPr>
          <p:nvPr/>
        </p:nvSpPr>
        <p:spPr bwMode="auto">
          <a:xfrm>
            <a:off x="9742806" y="2582333"/>
            <a:ext cx="3028950" cy="3319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867" tIns="33867" rIns="33867" bIns="33867"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1775"/>
              </a:lnSpc>
            </a:pPr>
            <a:endParaRPr lang="en-US" altLang="en-US" sz="2000">
              <a:latin typeface="Calibri" panose="020F0502020204030204" pitchFamily="34" charset="0"/>
            </a:endParaRPr>
          </a:p>
        </p:txBody>
      </p:sp>
      <p:sp>
        <p:nvSpPr>
          <p:cNvPr id="18443" name="TextBox 18"/>
          <p:cNvSpPr txBox="1">
            <a:spLocks noChangeArrowheads="1"/>
          </p:cNvSpPr>
          <p:nvPr/>
        </p:nvSpPr>
        <p:spPr bwMode="auto">
          <a:xfrm>
            <a:off x="685800" y="723901"/>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Course Evaluations</a:t>
            </a:r>
          </a:p>
        </p:txBody>
      </p:sp>
      <p:sp>
        <p:nvSpPr>
          <p:cNvPr id="23" name="TextBox 23"/>
          <p:cNvSpPr txBox="1"/>
          <p:nvPr/>
        </p:nvSpPr>
        <p:spPr>
          <a:xfrm>
            <a:off x="8770409" y="4670426"/>
            <a:ext cx="2435225" cy="361509"/>
          </a:xfrm>
          <a:prstGeom prst="rect">
            <a:avLst/>
          </a:prstGeom>
        </p:spPr>
        <p:txBody>
          <a:bodyPr lIns="0" tIns="0" rIns="0" bIns="0">
            <a:spAutoFit/>
          </a:bodyPr>
          <a:lstStyle/>
          <a:p>
            <a:pPr algn="ctr">
              <a:lnSpc>
                <a:spcPts val="3079"/>
              </a:lnSpc>
              <a:defRPr/>
            </a:pPr>
            <a:endParaRPr lang="en-US" sz="2000" dirty="0">
              <a:solidFill>
                <a:srgbClr val="222222"/>
              </a:solidFill>
              <a:latin typeface="Montserrat"/>
            </a:endParaRPr>
          </a:p>
        </p:txBody>
      </p:sp>
      <p:pic>
        <p:nvPicPr>
          <p:cNvPr id="25" name="Picture 1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94126" y="2939531"/>
            <a:ext cx="1250902" cy="113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7">
            <a:extLst>
              <a:ext uri="{FF2B5EF4-FFF2-40B4-BE49-F238E27FC236}">
                <a16:creationId xmlns:a16="http://schemas.microsoft.com/office/drawing/2014/main" id="{2B3438C3-11DD-EA36-FB6A-5C79238A26C5}"/>
              </a:ext>
            </a:extLst>
          </p:cNvPr>
          <p:cNvGrpSpPr>
            <a:grpSpLocks/>
          </p:cNvGrpSpPr>
          <p:nvPr/>
        </p:nvGrpSpPr>
        <p:grpSpPr bwMode="auto">
          <a:xfrm>
            <a:off x="2041315" y="2046928"/>
            <a:ext cx="2665122" cy="4528104"/>
            <a:chOff x="0" y="0"/>
            <a:chExt cx="660400" cy="812800"/>
          </a:xfrm>
        </p:grpSpPr>
        <p:sp>
          <p:nvSpPr>
            <p:cNvPr id="3" name="Freeform 8">
              <a:extLst>
                <a:ext uri="{FF2B5EF4-FFF2-40B4-BE49-F238E27FC236}">
                  <a16:creationId xmlns:a16="http://schemas.microsoft.com/office/drawing/2014/main" id="{E7D5A02E-D259-FAAF-C5D5-22BFE442C6B5}"/>
                </a:ext>
              </a:extLst>
            </p:cNvPr>
            <p:cNvSpPr>
              <a:spLocks/>
            </p:cNvSpPr>
            <p:nvPr/>
          </p:nvSpPr>
          <p:spPr bwMode="auto">
            <a:xfrm>
              <a:off x="0" y="0"/>
              <a:ext cx="660400" cy="812800"/>
            </a:xfrm>
            <a:custGeom>
              <a:avLst/>
              <a:gdLst>
                <a:gd name="T0" fmla="*/ 220252 w 660400"/>
                <a:gd name="T1" fmla="*/ 19070 h 812800"/>
                <a:gd name="T2" fmla="*/ 330378 w 660400"/>
                <a:gd name="T3" fmla="*/ 0 h 812800"/>
                <a:gd name="T4" fmla="*/ 438009 w 660400"/>
                <a:gd name="T5" fmla="*/ 17990 h 812800"/>
                <a:gd name="T6" fmla="*/ 440148 w 660400"/>
                <a:gd name="T7" fmla="*/ 18710 h 812800"/>
                <a:gd name="T8" fmla="*/ 660400 w 660400"/>
                <a:gd name="T9" fmla="*/ 328502 h 812800"/>
                <a:gd name="T10" fmla="*/ 660400 w 660400"/>
                <a:gd name="T11" fmla="*/ 812800 h 812800"/>
                <a:gd name="T12" fmla="*/ 0 w 660400"/>
                <a:gd name="T13" fmla="*/ 812800 h 812800"/>
                <a:gd name="T14" fmla="*/ 0 w 660400"/>
                <a:gd name="T15" fmla="*/ 328861 h 812800"/>
                <a:gd name="T16" fmla="*/ 220252 w 660400"/>
                <a:gd name="T17" fmla="*/ 19070 h 8128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0400"/>
                <a:gd name="T28" fmla="*/ 0 h 812800"/>
                <a:gd name="T29" fmla="*/ 660400 w 660400"/>
                <a:gd name="T30" fmla="*/ 812800 h 8128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BE8D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sz="2000"/>
            </a:p>
          </p:txBody>
        </p:sp>
        <p:sp>
          <p:nvSpPr>
            <p:cNvPr id="4" name="TextBox 9">
              <a:extLst>
                <a:ext uri="{FF2B5EF4-FFF2-40B4-BE49-F238E27FC236}">
                  <a16:creationId xmlns:a16="http://schemas.microsoft.com/office/drawing/2014/main" id="{6F6618A1-4E37-AC00-AC50-BCC016CCBCEF}"/>
                </a:ext>
              </a:extLst>
            </p:cNvPr>
            <p:cNvSpPr txBox="1">
              <a:spLocks noChangeArrowheads="1"/>
            </p:cNvSpPr>
            <p:nvPr/>
          </p:nvSpPr>
          <p:spPr bwMode="auto">
            <a:xfrm>
              <a:off x="0" y="88900"/>
              <a:ext cx="6604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867" tIns="33867" rIns="33867" bIns="33867"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1775"/>
                </a:lnSpc>
              </a:pPr>
              <a:endParaRPr lang="en-US" altLang="en-US" sz="2000">
                <a:latin typeface="Calibri" panose="020F0502020204030204" pitchFamily="34" charset="0"/>
              </a:endParaRPr>
            </a:p>
          </p:txBody>
        </p:sp>
      </p:grpSp>
      <p:pic>
        <p:nvPicPr>
          <p:cNvPr id="8" name="Picture 17">
            <a:extLst>
              <a:ext uri="{FF2B5EF4-FFF2-40B4-BE49-F238E27FC236}">
                <a16:creationId xmlns:a16="http://schemas.microsoft.com/office/drawing/2014/main" id="{908D40B7-169A-88B0-171E-13E47D8FE4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3714" y="2886285"/>
            <a:ext cx="1169162" cy="1065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a:extLst>
              <a:ext uri="{FF2B5EF4-FFF2-40B4-BE49-F238E27FC236}">
                <a16:creationId xmlns:a16="http://schemas.microsoft.com/office/drawing/2014/main" id="{B3B34893-6770-C5ED-A636-50B02D82A8A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72846" y="2309607"/>
            <a:ext cx="402059" cy="4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3B38C308-B28D-0CDF-F9AF-40C6792F06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94751" y="2293221"/>
            <a:ext cx="402059" cy="4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22">
            <a:extLst>
              <a:ext uri="{FF2B5EF4-FFF2-40B4-BE49-F238E27FC236}">
                <a16:creationId xmlns:a16="http://schemas.microsoft.com/office/drawing/2014/main" id="{56BEAAD5-1E56-DB5C-7E19-CE11F65CBD2E}"/>
              </a:ext>
            </a:extLst>
          </p:cNvPr>
          <p:cNvSpPr txBox="1">
            <a:spLocks noChangeArrowheads="1"/>
          </p:cNvSpPr>
          <p:nvPr/>
        </p:nvSpPr>
        <p:spPr bwMode="auto">
          <a:xfrm>
            <a:off x="2582055" y="4344936"/>
            <a:ext cx="1558459" cy="49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2000" dirty="0">
                <a:solidFill>
                  <a:srgbClr val="222222"/>
                </a:solidFill>
                <a:latin typeface="Times Neue Roman" charset="0"/>
              </a:rPr>
              <a:t>CA1</a:t>
            </a:r>
          </a:p>
        </p:txBody>
      </p:sp>
      <p:sp>
        <p:nvSpPr>
          <p:cNvPr id="16" name="TextBox 22">
            <a:extLst>
              <a:ext uri="{FF2B5EF4-FFF2-40B4-BE49-F238E27FC236}">
                <a16:creationId xmlns:a16="http://schemas.microsoft.com/office/drawing/2014/main" id="{078F6A6D-FB18-9176-8A0C-78BC75DE1CCB}"/>
              </a:ext>
            </a:extLst>
          </p:cNvPr>
          <p:cNvSpPr txBox="1">
            <a:spLocks noChangeArrowheads="1"/>
          </p:cNvSpPr>
          <p:nvPr/>
        </p:nvSpPr>
        <p:spPr bwMode="auto">
          <a:xfrm>
            <a:off x="7770833" y="4394871"/>
            <a:ext cx="2309265" cy="49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2000" dirty="0">
                <a:solidFill>
                  <a:srgbClr val="222222"/>
                </a:solidFill>
                <a:latin typeface="Times Neue Roman" charset="0"/>
              </a:rPr>
              <a:t>CA2 </a:t>
            </a:r>
          </a:p>
        </p:txBody>
      </p:sp>
      <p:sp>
        <p:nvSpPr>
          <p:cNvPr id="18" name="TextBox 21">
            <a:extLst>
              <a:ext uri="{FF2B5EF4-FFF2-40B4-BE49-F238E27FC236}">
                <a16:creationId xmlns:a16="http://schemas.microsoft.com/office/drawing/2014/main" id="{521D80E1-B0FE-7854-9E1A-1B175430F206}"/>
              </a:ext>
            </a:extLst>
          </p:cNvPr>
          <p:cNvSpPr txBox="1"/>
          <p:nvPr/>
        </p:nvSpPr>
        <p:spPr>
          <a:xfrm>
            <a:off x="2386941" y="5048524"/>
            <a:ext cx="1973867" cy="759054"/>
          </a:xfrm>
          <a:prstGeom prst="rect">
            <a:avLst/>
          </a:prstGeom>
        </p:spPr>
        <p:txBody>
          <a:bodyPr wrap="square" lIns="0" tIns="0" rIns="0" bIns="0">
            <a:spAutoFit/>
          </a:bodyPr>
          <a:lstStyle/>
          <a:p>
            <a:pPr algn="ctr">
              <a:lnSpc>
                <a:spcPts val="3079"/>
              </a:lnSpc>
              <a:defRPr/>
            </a:pPr>
            <a:r>
              <a:rPr lang="en-US" sz="2000" dirty="0">
                <a:solidFill>
                  <a:srgbClr val="222222"/>
                </a:solidFill>
                <a:latin typeface="Montserrat"/>
              </a:rPr>
              <a:t>Marks – 45</a:t>
            </a:r>
            <a:br>
              <a:rPr lang="en-US" sz="2000" dirty="0">
                <a:solidFill>
                  <a:srgbClr val="222222"/>
                </a:solidFill>
                <a:latin typeface="Montserrat"/>
              </a:rPr>
            </a:br>
            <a:endParaRPr lang="en-US" sz="2000" dirty="0">
              <a:solidFill>
                <a:srgbClr val="222222"/>
              </a:solidFill>
              <a:latin typeface="Montserrat"/>
            </a:endParaRPr>
          </a:p>
        </p:txBody>
      </p:sp>
      <p:sp>
        <p:nvSpPr>
          <p:cNvPr id="20" name="TextBox 21">
            <a:extLst>
              <a:ext uri="{FF2B5EF4-FFF2-40B4-BE49-F238E27FC236}">
                <a16:creationId xmlns:a16="http://schemas.microsoft.com/office/drawing/2014/main" id="{5761A572-3F52-9BA1-C20D-397C5842621F}"/>
              </a:ext>
            </a:extLst>
          </p:cNvPr>
          <p:cNvSpPr txBox="1"/>
          <p:nvPr/>
        </p:nvSpPr>
        <p:spPr>
          <a:xfrm>
            <a:off x="7938531" y="5010133"/>
            <a:ext cx="1973867" cy="361509"/>
          </a:xfrm>
          <a:prstGeom prst="rect">
            <a:avLst/>
          </a:prstGeom>
        </p:spPr>
        <p:txBody>
          <a:bodyPr wrap="square" lIns="0" tIns="0" rIns="0" bIns="0">
            <a:spAutoFit/>
          </a:bodyPr>
          <a:lstStyle/>
          <a:p>
            <a:pPr algn="ctr">
              <a:lnSpc>
                <a:spcPts val="3079"/>
              </a:lnSpc>
              <a:defRPr/>
            </a:pPr>
            <a:r>
              <a:rPr lang="en-US" sz="2000" dirty="0">
                <a:solidFill>
                  <a:srgbClr val="222222"/>
                </a:solidFill>
                <a:latin typeface="Montserrat"/>
              </a:rPr>
              <a:t>Marks – 45</a:t>
            </a:r>
          </a:p>
        </p:txBody>
      </p:sp>
      <p:sp>
        <p:nvSpPr>
          <p:cNvPr id="13" name="Oval 12">
            <a:extLst>
              <a:ext uri="{FF2B5EF4-FFF2-40B4-BE49-F238E27FC236}">
                <a16:creationId xmlns:a16="http://schemas.microsoft.com/office/drawing/2014/main" id="{1BB3B444-BC0C-70FC-BABE-D320F7815BCB}"/>
              </a:ext>
            </a:extLst>
          </p:cNvPr>
          <p:cNvSpPr/>
          <p:nvPr/>
        </p:nvSpPr>
        <p:spPr>
          <a:xfrm>
            <a:off x="4411980" y="3829050"/>
            <a:ext cx="3383280" cy="1405890"/>
          </a:xfrm>
          <a:prstGeom prst="ellipse">
            <a:avLst/>
          </a:prstGeom>
          <a:solidFill>
            <a:schemeClr val="accent4"/>
          </a:solidFill>
          <a:ln>
            <a:solidFill>
              <a:schemeClr val="accent3">
                <a:lumMod val="5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200" dirty="0"/>
              <a:t>Compulsory</a:t>
            </a:r>
            <a:endParaRPr lang="en-GB" sz="3200" dirty="0"/>
          </a:p>
        </p:txBody>
      </p:sp>
    </p:spTree>
    <p:extLst>
      <p:ext uri="{BB962C8B-B14F-4D97-AF65-F5344CB8AC3E}">
        <p14:creationId xmlns:p14="http://schemas.microsoft.com/office/powerpoint/2010/main" val="41542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1825625"/>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7143" y="5044194"/>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9" name="TextBox 13"/>
          <p:cNvSpPr txBox="1">
            <a:spLocks noChangeArrowheads="1"/>
          </p:cNvSpPr>
          <p:nvPr/>
        </p:nvSpPr>
        <p:spPr bwMode="auto">
          <a:xfrm>
            <a:off x="685800" y="723901"/>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Weightage Division</a:t>
            </a:r>
          </a:p>
        </p:txBody>
      </p:sp>
      <p:sp>
        <p:nvSpPr>
          <p:cNvPr id="17420" name="TextBox 14"/>
          <p:cNvSpPr txBox="1">
            <a:spLocks noChangeArrowheads="1"/>
          </p:cNvSpPr>
          <p:nvPr/>
        </p:nvSpPr>
        <p:spPr bwMode="auto">
          <a:xfrm>
            <a:off x="2497667" y="1778000"/>
            <a:ext cx="3884472"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Attendance - 10 marks</a:t>
            </a:r>
          </a:p>
        </p:txBody>
      </p:sp>
      <p:sp>
        <p:nvSpPr>
          <p:cNvPr id="17421" name="TextBox 15"/>
          <p:cNvSpPr txBox="1">
            <a:spLocks noChangeArrowheads="1"/>
          </p:cNvSpPr>
          <p:nvPr/>
        </p:nvSpPr>
        <p:spPr bwMode="auto">
          <a:xfrm>
            <a:off x="2600537" y="5002285"/>
            <a:ext cx="3137401"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CA - 90 marks</a:t>
            </a:r>
          </a:p>
        </p:txBody>
      </p:sp>
      <p:graphicFrame>
        <p:nvGraphicFramePr>
          <p:cNvPr id="4" name="Table 3">
            <a:extLst>
              <a:ext uri="{FF2B5EF4-FFF2-40B4-BE49-F238E27FC236}">
                <a16:creationId xmlns:a16="http://schemas.microsoft.com/office/drawing/2014/main" id="{2EB1BE91-BE05-6558-ADF5-476630D7AC03}"/>
              </a:ext>
            </a:extLst>
          </p:cNvPr>
          <p:cNvGraphicFramePr>
            <a:graphicFrameLocks noGrp="1"/>
          </p:cNvGraphicFramePr>
          <p:nvPr>
            <p:extLst>
              <p:ext uri="{D42A27DB-BD31-4B8C-83A1-F6EECF244321}">
                <p14:modId xmlns:p14="http://schemas.microsoft.com/office/powerpoint/2010/main" val="1935883004"/>
              </p:ext>
            </p:extLst>
          </p:nvPr>
        </p:nvGraphicFramePr>
        <p:xfrm>
          <a:off x="2455512" y="2346335"/>
          <a:ext cx="4224422" cy="2560320"/>
        </p:xfrm>
        <a:graphic>
          <a:graphicData uri="http://schemas.openxmlformats.org/drawingml/2006/table">
            <a:tbl>
              <a:tblPr firstRow="1" bandRow="1">
                <a:tableStyleId>{5C22544A-7EE6-4342-B048-85BDC9FD1C3A}</a:tableStyleId>
              </a:tblPr>
              <a:tblGrid>
                <a:gridCol w="3079015">
                  <a:extLst>
                    <a:ext uri="{9D8B030D-6E8A-4147-A177-3AD203B41FA5}">
                      <a16:colId xmlns:a16="http://schemas.microsoft.com/office/drawing/2014/main" val="1031110501"/>
                    </a:ext>
                  </a:extLst>
                </a:gridCol>
                <a:gridCol w="1145407">
                  <a:extLst>
                    <a:ext uri="{9D8B030D-6E8A-4147-A177-3AD203B41FA5}">
                      <a16:colId xmlns:a16="http://schemas.microsoft.com/office/drawing/2014/main" val="3469652122"/>
                    </a:ext>
                  </a:extLst>
                </a:gridCol>
              </a:tblGrid>
              <a:tr h="370840">
                <a:tc>
                  <a:txBody>
                    <a:bodyPr/>
                    <a:lstStyle/>
                    <a:p>
                      <a:r>
                        <a:rPr lang="en-US" sz="2200" dirty="0">
                          <a:latin typeface="Times New Roman" panose="02020603050405020304" pitchFamily="18" charset="0"/>
                          <a:cs typeface="Times New Roman" panose="02020603050405020304" pitchFamily="18" charset="0"/>
                        </a:rPr>
                        <a:t>Attendance Percentage</a:t>
                      </a:r>
                      <a:endParaRPr lang="en-GB"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Marks</a:t>
                      </a:r>
                      <a:endParaRPr lang="en-GB"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79163415"/>
                  </a:ext>
                </a:extLst>
              </a:tr>
              <a:tr h="370840">
                <a:tc>
                  <a:txBody>
                    <a:bodyPr/>
                    <a:lstStyle/>
                    <a:p>
                      <a:r>
                        <a:rPr lang="en-US" sz="2200" dirty="0">
                          <a:latin typeface="Times New Roman" panose="02020603050405020304" pitchFamily="18" charset="0"/>
                          <a:cs typeface="Times New Roman" panose="02020603050405020304" pitchFamily="18" charset="0"/>
                        </a:rPr>
                        <a:t>95% -100%</a:t>
                      </a:r>
                      <a:endParaRPr lang="en-GB"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10</a:t>
                      </a:r>
                      <a:endParaRPr lang="en-GB"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4545478"/>
                  </a:ext>
                </a:extLst>
              </a:tr>
              <a:tr h="370840">
                <a:tc>
                  <a:txBody>
                    <a:bodyPr/>
                    <a:lstStyle/>
                    <a:p>
                      <a:r>
                        <a:rPr lang="en-US" sz="2200" dirty="0">
                          <a:latin typeface="Times New Roman" panose="02020603050405020304" pitchFamily="18" charset="0"/>
                          <a:cs typeface="Times New Roman" panose="02020603050405020304" pitchFamily="18" charset="0"/>
                        </a:rPr>
                        <a:t>90% - 94.9%</a:t>
                      </a:r>
                      <a:endParaRPr lang="en-GB"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8</a:t>
                      </a:r>
                      <a:endParaRPr lang="en-GB"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08781851"/>
                  </a:ext>
                </a:extLst>
              </a:tr>
              <a:tr h="370840">
                <a:tc>
                  <a:txBody>
                    <a:bodyPr/>
                    <a:lstStyle/>
                    <a:p>
                      <a:r>
                        <a:rPr lang="en-US" sz="2200" dirty="0">
                          <a:latin typeface="Times New Roman" panose="02020603050405020304" pitchFamily="18" charset="0"/>
                          <a:cs typeface="Times New Roman" panose="02020603050405020304" pitchFamily="18" charset="0"/>
                        </a:rPr>
                        <a:t>85% - 89.9%</a:t>
                      </a:r>
                      <a:endParaRPr lang="en-GB"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6</a:t>
                      </a:r>
                      <a:endParaRPr lang="en-GB"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8195674"/>
                  </a:ext>
                </a:extLst>
              </a:tr>
              <a:tr h="370840">
                <a:tc>
                  <a:txBody>
                    <a:bodyPr/>
                    <a:lstStyle/>
                    <a:p>
                      <a:r>
                        <a:rPr lang="en-US" sz="2200" dirty="0">
                          <a:latin typeface="Times New Roman" panose="02020603050405020304" pitchFamily="18" charset="0"/>
                          <a:cs typeface="Times New Roman" panose="02020603050405020304" pitchFamily="18" charset="0"/>
                        </a:rPr>
                        <a:t>80% - 84.9%</a:t>
                      </a:r>
                      <a:endParaRPr lang="en-GB"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4</a:t>
                      </a:r>
                      <a:endParaRPr lang="en-GB"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7168420"/>
                  </a:ext>
                </a:extLst>
              </a:tr>
              <a:tr h="370840">
                <a:tc>
                  <a:txBody>
                    <a:bodyPr/>
                    <a:lstStyle/>
                    <a:p>
                      <a:r>
                        <a:rPr lang="en-US" sz="2200" dirty="0">
                          <a:latin typeface="Times New Roman" panose="02020603050405020304" pitchFamily="18" charset="0"/>
                          <a:cs typeface="Times New Roman" panose="02020603050405020304" pitchFamily="18" charset="0"/>
                        </a:rPr>
                        <a:t>75% - 79.9%</a:t>
                      </a:r>
                      <a:endParaRPr lang="en-GB"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2</a:t>
                      </a:r>
                      <a:endParaRPr lang="en-GB"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6469429"/>
                  </a:ext>
                </a:extLst>
              </a:tr>
            </a:tbl>
          </a:graphicData>
        </a:graphic>
      </p:graphicFrame>
      <p:sp>
        <p:nvSpPr>
          <p:cNvPr id="6" name="TextBox 5">
            <a:extLst>
              <a:ext uri="{FF2B5EF4-FFF2-40B4-BE49-F238E27FC236}">
                <a16:creationId xmlns:a16="http://schemas.microsoft.com/office/drawing/2014/main" id="{B741AF39-1672-3364-1A27-6D4E17E4A9EF}"/>
              </a:ext>
            </a:extLst>
          </p:cNvPr>
          <p:cNvSpPr txBox="1"/>
          <p:nvPr/>
        </p:nvSpPr>
        <p:spPr>
          <a:xfrm>
            <a:off x="875899" y="5669280"/>
            <a:ext cx="9808143" cy="523220"/>
          </a:xfrm>
          <a:prstGeom prst="rect">
            <a:avLst/>
          </a:prstGeom>
          <a:noFill/>
        </p:spPr>
        <p:txBody>
          <a:bodyPr wrap="square" rtlCol="0">
            <a:spAutoFit/>
          </a:bodyPr>
          <a:lstStyle/>
          <a:p>
            <a:pPr algn="ctr"/>
            <a:r>
              <a:rPr lang="en-US" sz="2800" dirty="0">
                <a:highlight>
                  <a:srgbClr val="FFFF00"/>
                </a:highlight>
                <a:latin typeface="Times New Roman" panose="02020603050405020304" pitchFamily="18" charset="0"/>
                <a:cs typeface="Times New Roman" panose="02020603050405020304" pitchFamily="18" charset="0"/>
              </a:rPr>
              <a:t>MTP and ETP are not applicable for this course </a:t>
            </a:r>
            <a:endParaRPr lang="en-GB" sz="28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5496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40CA-148F-0E17-3AD6-6574109D83C9}"/>
              </a:ext>
            </a:extLst>
          </p:cNvPr>
          <p:cNvSpPr>
            <a:spLocks noGrp="1"/>
          </p:cNvSpPr>
          <p:nvPr>
            <p:ph type="title"/>
          </p:nvPr>
        </p:nvSpPr>
        <p:spPr>
          <a:xfrm>
            <a:off x="838200" y="575034"/>
            <a:ext cx="10515600" cy="612743"/>
          </a:xfrm>
        </p:spPr>
        <p:txBody>
          <a:bodyPr>
            <a:noAutofit/>
          </a:bodyPr>
          <a:lstStyle/>
          <a:p>
            <a:r>
              <a:rPr lang="en-IN" sz="4000" b="1" dirty="0"/>
              <a:t>CA Description for Placed Students</a:t>
            </a:r>
            <a:endParaRPr lang="en-IN" sz="4000" dirty="0"/>
          </a:p>
        </p:txBody>
      </p:sp>
      <p:sp>
        <p:nvSpPr>
          <p:cNvPr id="3" name="Content Placeholder 2">
            <a:extLst>
              <a:ext uri="{FF2B5EF4-FFF2-40B4-BE49-F238E27FC236}">
                <a16:creationId xmlns:a16="http://schemas.microsoft.com/office/drawing/2014/main" id="{782B55E4-A4A1-4973-5051-1C3AF10E31D5}"/>
              </a:ext>
            </a:extLst>
          </p:cNvPr>
          <p:cNvSpPr>
            <a:spLocks noGrp="1"/>
          </p:cNvSpPr>
          <p:nvPr>
            <p:ph idx="1"/>
          </p:nvPr>
        </p:nvSpPr>
        <p:spPr>
          <a:xfrm>
            <a:off x="913614" y="1418242"/>
            <a:ext cx="10515600" cy="5189948"/>
          </a:xfrm>
        </p:spPr>
        <p:txBody>
          <a:bodyPr>
            <a:noAutofit/>
          </a:bodyPr>
          <a:lstStyle/>
          <a:p>
            <a:pPr marL="0" indent="0">
              <a:buNone/>
            </a:pPr>
            <a:r>
              <a:rPr lang="en-IN" sz="1800" b="1" dirty="0"/>
              <a:t>1. Company Technology Stack based Project</a:t>
            </a:r>
            <a:endParaRPr lang="en-IN" sz="1800" dirty="0"/>
          </a:p>
          <a:p>
            <a:pPr marL="0" indent="0">
              <a:buNone/>
            </a:pPr>
            <a:r>
              <a:rPr lang="en-IN" sz="1800" b="1" dirty="0"/>
              <a:t>Description:</a:t>
            </a:r>
            <a:br>
              <a:rPr lang="en-IN" sz="1800" dirty="0"/>
            </a:br>
            <a:r>
              <a:rPr lang="en-IN" sz="1800" dirty="0"/>
              <a:t>Students must prepare a detailed assignment based on the </a:t>
            </a:r>
            <a:r>
              <a:rPr lang="en-IN" sz="1800" b="1" dirty="0"/>
              <a:t>technology stack used by the company</a:t>
            </a:r>
            <a:r>
              <a:rPr lang="en-IN" sz="1800" dirty="0"/>
              <a:t> they are placed in.</a:t>
            </a:r>
          </a:p>
          <a:p>
            <a:pPr marL="0" indent="0">
              <a:buNone/>
            </a:pPr>
            <a:r>
              <a:rPr lang="en-IN" sz="1800" b="1" dirty="0"/>
              <a:t>Expected Coverage:</a:t>
            </a:r>
            <a:endParaRPr lang="en-IN" sz="1800" dirty="0"/>
          </a:p>
          <a:p>
            <a:pPr lvl="0"/>
            <a:r>
              <a:rPr lang="en-IN" sz="1800" dirty="0"/>
              <a:t>Company overview and domain</a:t>
            </a:r>
          </a:p>
          <a:p>
            <a:pPr lvl="0"/>
            <a:r>
              <a:rPr lang="en-IN" sz="1800" dirty="0"/>
              <a:t>Technology stack (Frontend, Backend, Database, Cloud, Tools, etc.)</a:t>
            </a:r>
          </a:p>
          <a:p>
            <a:pPr lvl="0"/>
            <a:r>
              <a:rPr lang="en-IN" sz="1800" dirty="0"/>
              <a:t>Purpose of each technology</a:t>
            </a:r>
          </a:p>
          <a:p>
            <a:pPr lvl="0"/>
            <a:r>
              <a:rPr lang="en-IN" sz="1800" dirty="0"/>
              <a:t>How these technologies interact within the system</a:t>
            </a:r>
          </a:p>
          <a:p>
            <a:pPr lvl="0"/>
            <a:r>
              <a:rPr lang="en-IN" sz="1800" dirty="0"/>
              <a:t>Advantages of the chosen stack</a:t>
            </a:r>
          </a:p>
        </p:txBody>
      </p:sp>
    </p:spTree>
    <p:extLst>
      <p:ext uri="{BB962C8B-B14F-4D97-AF65-F5344CB8AC3E}">
        <p14:creationId xmlns:p14="http://schemas.microsoft.com/office/powerpoint/2010/main" val="510813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B9C2-2A9D-AFEE-0617-291F8B6EE6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75B4DA-167A-1BE3-947F-B551EC77CCA7}"/>
              </a:ext>
            </a:extLst>
          </p:cNvPr>
          <p:cNvSpPr>
            <a:spLocks noGrp="1"/>
          </p:cNvSpPr>
          <p:nvPr>
            <p:ph idx="1"/>
          </p:nvPr>
        </p:nvSpPr>
        <p:spPr>
          <a:xfrm>
            <a:off x="838200" y="848412"/>
            <a:ext cx="10515600" cy="5328551"/>
          </a:xfrm>
        </p:spPr>
        <p:txBody>
          <a:bodyPr>
            <a:normAutofit/>
          </a:bodyPr>
          <a:lstStyle/>
          <a:p>
            <a:pPr marL="0" indent="0">
              <a:buNone/>
            </a:pPr>
            <a:r>
              <a:rPr lang="en-IN" sz="1800" b="1" dirty="0"/>
              <a:t>2. Technology &amp; Workflow Presentation</a:t>
            </a:r>
            <a:endParaRPr lang="en-IN" sz="1800" dirty="0"/>
          </a:p>
          <a:p>
            <a:pPr marL="0" indent="0">
              <a:buNone/>
            </a:pPr>
            <a:r>
              <a:rPr lang="en-IN" sz="1800" b="1" dirty="0"/>
              <a:t>Description:</a:t>
            </a:r>
            <a:br>
              <a:rPr lang="en-IN" sz="1800" dirty="0"/>
            </a:br>
            <a:r>
              <a:rPr lang="en-IN" sz="1800" dirty="0"/>
              <a:t>A short presentation explaining:</a:t>
            </a:r>
          </a:p>
          <a:p>
            <a:pPr lvl="0"/>
            <a:r>
              <a:rPr lang="en-IN" sz="1800" dirty="0"/>
              <a:t>Development workflow used in the company (Agile, DevOps, CI/CD, etc.)</a:t>
            </a:r>
          </a:p>
          <a:p>
            <a:pPr lvl="0"/>
            <a:r>
              <a:rPr lang="en-IN" sz="1800" dirty="0"/>
              <a:t>Software development life cycle followed</a:t>
            </a:r>
          </a:p>
          <a:p>
            <a:pPr lvl="0"/>
            <a:r>
              <a:rPr lang="en-IN" sz="1800" dirty="0"/>
              <a:t>Team roles and collaboration tools</a:t>
            </a:r>
          </a:p>
          <a:p>
            <a:pPr lvl="0"/>
            <a:r>
              <a:rPr lang="en-IN" sz="1800" dirty="0"/>
              <a:t>Real-world problem-solving approach</a:t>
            </a:r>
          </a:p>
          <a:p>
            <a:pPr marL="0" indent="0">
              <a:buNone/>
            </a:pPr>
            <a:r>
              <a:rPr lang="en-IN" sz="1800" b="1" dirty="0"/>
              <a:t>3. GitHub &amp; LinkedIn Professional</a:t>
            </a:r>
            <a:endParaRPr lang="en-IN" sz="1800" dirty="0"/>
          </a:p>
          <a:p>
            <a:pPr marL="0" indent="0">
              <a:buNone/>
            </a:pPr>
            <a:r>
              <a:rPr lang="en-IN" sz="1800" b="1" dirty="0"/>
              <a:t>Description:</a:t>
            </a:r>
            <a:br>
              <a:rPr lang="en-IN" sz="1800" dirty="0"/>
            </a:br>
            <a:r>
              <a:rPr lang="en-IN" sz="1800" dirty="0"/>
              <a:t>Students must maintain and update:</a:t>
            </a:r>
          </a:p>
          <a:p>
            <a:pPr lvl="0"/>
            <a:r>
              <a:rPr lang="en-IN" sz="1800" dirty="0"/>
              <a:t>GitHub profile with repositories (learning projects, demos, documentation)</a:t>
            </a:r>
          </a:p>
          <a:p>
            <a:pPr lvl="0"/>
            <a:r>
              <a:rPr lang="en-IN" sz="1800" dirty="0"/>
              <a:t>LinkedIn profile with placement details, skills, and technologies used</a:t>
            </a:r>
          </a:p>
          <a:p>
            <a:pPr marL="0" indent="0">
              <a:buNone/>
            </a:pPr>
            <a:r>
              <a:rPr lang="en-IN" sz="1800" b="1" dirty="0"/>
              <a:t>4. Project Report</a:t>
            </a:r>
            <a:endParaRPr lang="en-IN" sz="1800" dirty="0"/>
          </a:p>
          <a:p>
            <a:pPr marL="0" lvl="0" indent="0">
              <a:buNone/>
            </a:pPr>
            <a:endParaRPr lang="en-IN" sz="1800" dirty="0"/>
          </a:p>
          <a:p>
            <a:pPr marL="0" lvl="0" indent="0">
              <a:buNone/>
            </a:pPr>
            <a:endParaRPr lang="en-IN" sz="1800" dirty="0"/>
          </a:p>
        </p:txBody>
      </p:sp>
    </p:spTree>
    <p:extLst>
      <p:ext uri="{BB962C8B-B14F-4D97-AF65-F5344CB8AC3E}">
        <p14:creationId xmlns:p14="http://schemas.microsoft.com/office/powerpoint/2010/main" val="3838189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CA9F-284C-8F8A-EB75-95FD28DB4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44161-6270-0847-8506-CE153E1B68A9}"/>
              </a:ext>
            </a:extLst>
          </p:cNvPr>
          <p:cNvSpPr>
            <a:spLocks noGrp="1"/>
          </p:cNvSpPr>
          <p:nvPr>
            <p:ph type="title"/>
          </p:nvPr>
        </p:nvSpPr>
        <p:spPr>
          <a:xfrm>
            <a:off x="838200" y="681036"/>
            <a:ext cx="10515600" cy="497315"/>
          </a:xfrm>
        </p:spPr>
        <p:txBody>
          <a:bodyPr>
            <a:noAutofit/>
          </a:bodyPr>
          <a:lstStyle/>
          <a:p>
            <a:r>
              <a:rPr lang="en-IN" sz="4000" b="1" dirty="0"/>
              <a:t>CA Description for Non-Placed Students </a:t>
            </a:r>
          </a:p>
        </p:txBody>
      </p:sp>
      <p:sp>
        <p:nvSpPr>
          <p:cNvPr id="3" name="Content Placeholder 2">
            <a:extLst>
              <a:ext uri="{FF2B5EF4-FFF2-40B4-BE49-F238E27FC236}">
                <a16:creationId xmlns:a16="http://schemas.microsoft.com/office/drawing/2014/main" id="{C2E9FC52-D620-524E-B143-5BC1A7618712}"/>
              </a:ext>
            </a:extLst>
          </p:cNvPr>
          <p:cNvSpPr>
            <a:spLocks noGrp="1"/>
          </p:cNvSpPr>
          <p:nvPr>
            <p:ph idx="1"/>
          </p:nvPr>
        </p:nvSpPr>
        <p:spPr>
          <a:xfrm>
            <a:off x="741948" y="1264422"/>
            <a:ext cx="10515600" cy="5867898"/>
          </a:xfrm>
        </p:spPr>
        <p:txBody>
          <a:bodyPr>
            <a:noAutofit/>
          </a:bodyPr>
          <a:lstStyle/>
          <a:p>
            <a:pPr marL="457200" indent="-457200">
              <a:buAutoNum type="arabicPeriod"/>
            </a:pPr>
            <a:r>
              <a:rPr lang="en-IN" sz="2000" b="1" dirty="0">
                <a:latin typeface="Times New Roman" panose="02020603050405020304" pitchFamily="18" charset="0"/>
                <a:cs typeface="Times New Roman" panose="02020603050405020304" pitchFamily="18" charset="0"/>
              </a:rPr>
              <a:t>Industry-Ready Project Development / Capstone Project Relevance </a:t>
            </a: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Description: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Students must design and develop a </a:t>
            </a:r>
            <a:r>
              <a:rPr lang="en-IN" sz="2000" b="1" dirty="0">
                <a:latin typeface="Times New Roman" panose="02020603050405020304" pitchFamily="18" charset="0"/>
                <a:cs typeface="Times New Roman" panose="02020603050405020304" pitchFamily="18" charset="0"/>
              </a:rPr>
              <a:t>project aligned with a real industry use case</a:t>
            </a:r>
            <a:r>
              <a:rPr lang="en-IN" sz="2000" dirty="0">
                <a:latin typeface="Times New Roman" panose="02020603050405020304" pitchFamily="18" charset="0"/>
                <a:cs typeface="Times New Roman" panose="02020603050405020304" pitchFamily="18" charset="0"/>
              </a:rPr>
              <a:t>, exploring technologies used in different domains such as:</a:t>
            </a:r>
          </a:p>
          <a:p>
            <a:pPr lvl="0"/>
            <a:r>
              <a:rPr lang="en-IN" sz="2000" dirty="0">
                <a:latin typeface="Times New Roman" panose="02020603050405020304" pitchFamily="18" charset="0"/>
                <a:cs typeface="Times New Roman" panose="02020603050405020304" pitchFamily="18" charset="0"/>
              </a:rPr>
              <a:t>Healthcare</a:t>
            </a:r>
          </a:p>
          <a:p>
            <a:pPr lvl="0"/>
            <a:r>
              <a:rPr lang="en-IN" sz="2000" dirty="0">
                <a:latin typeface="Times New Roman" panose="02020603050405020304" pitchFamily="18" charset="0"/>
                <a:cs typeface="Times New Roman" panose="02020603050405020304" pitchFamily="18" charset="0"/>
              </a:rPr>
              <a:t>Finance</a:t>
            </a:r>
          </a:p>
          <a:p>
            <a:pPr lvl="0"/>
            <a:r>
              <a:rPr lang="en-IN" sz="2000" dirty="0">
                <a:latin typeface="Times New Roman" panose="02020603050405020304" pitchFamily="18" charset="0"/>
                <a:cs typeface="Times New Roman" panose="02020603050405020304" pitchFamily="18" charset="0"/>
              </a:rPr>
              <a:t>Education</a:t>
            </a:r>
          </a:p>
          <a:p>
            <a:pPr lvl="0"/>
            <a:r>
              <a:rPr lang="en-IN" sz="2000" dirty="0">
                <a:latin typeface="Times New Roman" panose="02020603050405020304" pitchFamily="18" charset="0"/>
                <a:cs typeface="Times New Roman" panose="02020603050405020304" pitchFamily="18" charset="0"/>
              </a:rPr>
              <a:t>E-commerce</a:t>
            </a:r>
          </a:p>
          <a:p>
            <a:pPr lvl="0"/>
            <a:r>
              <a:rPr lang="en-IN" sz="2000" dirty="0">
                <a:latin typeface="Times New Roman" panose="02020603050405020304" pitchFamily="18" charset="0"/>
                <a:cs typeface="Times New Roman" panose="02020603050405020304" pitchFamily="18" charset="0"/>
              </a:rPr>
              <a:t>AI/ML, Cloud, Web, Mobile, or Data Analytics</a:t>
            </a:r>
          </a:p>
          <a:p>
            <a:pPr marL="0" indent="0">
              <a:buNone/>
            </a:pPr>
            <a:r>
              <a:rPr lang="en-IN" sz="2000" b="1" dirty="0">
                <a:latin typeface="Times New Roman" panose="02020603050405020304" pitchFamily="18" charset="0"/>
                <a:cs typeface="Times New Roman" panose="02020603050405020304" pitchFamily="18" charset="0"/>
              </a:rPr>
              <a:t>Expected Outcomes:</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Clear problem statement</a:t>
            </a:r>
          </a:p>
          <a:p>
            <a:pPr lvl="0"/>
            <a:r>
              <a:rPr lang="en-IN" sz="2000" dirty="0">
                <a:latin typeface="Times New Roman" panose="02020603050405020304" pitchFamily="18" charset="0"/>
                <a:cs typeface="Times New Roman" panose="02020603050405020304" pitchFamily="18" charset="0"/>
              </a:rPr>
              <a:t>Appropriate technology selection</a:t>
            </a:r>
          </a:p>
          <a:p>
            <a:pPr lvl="0"/>
            <a:r>
              <a:rPr lang="en-IN" sz="2000" dirty="0">
                <a:latin typeface="Times New Roman" panose="02020603050405020304" pitchFamily="18" charset="0"/>
                <a:cs typeface="Times New Roman" panose="02020603050405020304" pitchFamily="18" charset="0"/>
              </a:rPr>
              <a:t>Functional and scalable solution</a:t>
            </a:r>
          </a:p>
          <a:p>
            <a:pPr lvl="0"/>
            <a:r>
              <a:rPr lang="en-IN" sz="2000" dirty="0">
                <a:latin typeface="Times New Roman" panose="02020603050405020304" pitchFamily="18" charset="0"/>
                <a:cs typeface="Times New Roman" panose="02020603050405020304" pitchFamily="18" charset="0"/>
              </a:rPr>
              <a:t>Basic documentation</a:t>
            </a:r>
          </a:p>
        </p:txBody>
      </p:sp>
    </p:spTree>
    <p:extLst>
      <p:ext uri="{BB962C8B-B14F-4D97-AF65-F5344CB8AC3E}">
        <p14:creationId xmlns:p14="http://schemas.microsoft.com/office/powerpoint/2010/main" val="2797276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C47E9-CFE4-DB72-BCCD-74B6DDE7FDF1}"/>
              </a:ext>
            </a:extLst>
          </p:cNvPr>
          <p:cNvSpPr>
            <a:spLocks noGrp="1"/>
          </p:cNvSpPr>
          <p:nvPr>
            <p:ph idx="1"/>
          </p:nvPr>
        </p:nvSpPr>
        <p:spPr>
          <a:xfrm>
            <a:off x="838200" y="807530"/>
            <a:ext cx="10515600" cy="5548820"/>
          </a:xfrm>
        </p:spPr>
        <p:txBody>
          <a:bodyPr>
            <a:normAutofit/>
          </a:bodyPr>
          <a:lstStyle/>
          <a:p>
            <a:pPr marL="0" lvl="0" indent="0">
              <a:buNone/>
            </a:pPr>
            <a:endParaRPr lang="en-IN" sz="2000" dirty="0">
              <a:latin typeface="Times New Roman" panose="02020603050405020304" pitchFamily="18" charset="0"/>
              <a:cs typeface="Times New Roman" panose="02020603050405020304" pitchFamily="18" charset="0"/>
            </a:endParaRPr>
          </a:p>
          <a:p>
            <a:pPr marL="0" lvl="0" indent="0">
              <a:buNone/>
            </a:pPr>
            <a:r>
              <a:rPr lang="en-IN" sz="2000" b="1" dirty="0">
                <a:latin typeface="Times New Roman" panose="02020603050405020304" pitchFamily="18" charset="0"/>
                <a:cs typeface="Times New Roman" panose="02020603050405020304" pitchFamily="18" charset="0"/>
              </a:rPr>
              <a:t>Examples:-</a:t>
            </a:r>
          </a:p>
          <a:p>
            <a:pPr marL="0" indent="0">
              <a:buNone/>
            </a:pPr>
            <a:r>
              <a:rPr lang="en-US" sz="2000" b="1" dirty="0">
                <a:latin typeface="Times New Roman" panose="02020603050405020304" pitchFamily="18" charset="0"/>
                <a:cs typeface="Times New Roman" panose="02020603050405020304" pitchFamily="18" charset="0"/>
              </a:rPr>
              <a:t>Recommendation System for E-Commerce Platforms</a:t>
            </a:r>
          </a:p>
          <a:p>
            <a:r>
              <a:rPr lang="en-US" sz="2000" b="1" dirty="0">
                <a:latin typeface="Times New Roman" panose="02020603050405020304" pitchFamily="18" charset="0"/>
                <a:cs typeface="Times New Roman" panose="02020603050405020304" pitchFamily="18" charset="0"/>
              </a:rPr>
              <a:t>Domain:</a:t>
            </a:r>
            <a:r>
              <a:rPr lang="en-US" sz="2000" dirty="0">
                <a:latin typeface="Times New Roman" panose="02020603050405020304" pitchFamily="18" charset="0"/>
                <a:cs typeface="Times New Roman" panose="02020603050405020304" pitchFamily="18" charset="0"/>
              </a:rPr>
              <a:t> E-Commerce / Data Science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Technologies:</a:t>
            </a:r>
            <a:r>
              <a:rPr lang="en-US" sz="2000" dirty="0">
                <a:latin typeface="Times New Roman" panose="02020603050405020304" pitchFamily="18" charset="0"/>
                <a:cs typeface="Times New Roman" panose="02020603050405020304" pitchFamily="18" charset="0"/>
              </a:rPr>
              <a:t> Python, ML, Collaborative Filtering</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Description: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Develop a recommendation engine that suggests products based on user behavior, preferences, and purchase history.</a:t>
            </a:r>
          </a:p>
          <a:p>
            <a:r>
              <a:rPr lang="en-US" sz="2000" b="1" dirty="0">
                <a:latin typeface="Times New Roman" panose="02020603050405020304" pitchFamily="18" charset="0"/>
                <a:cs typeface="Times New Roman" panose="02020603050405020304" pitchFamily="18" charset="0"/>
              </a:rPr>
              <a:t>Industry Relevance: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by online retail platforms and streaming services.</a:t>
            </a:r>
          </a:p>
          <a:p>
            <a:pPr marL="0" lv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819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A120-5ECA-05BB-B957-9C3ECCDBC9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64A128-A313-0671-A5D7-F4361EDE8B0F}"/>
              </a:ext>
            </a:extLst>
          </p:cNvPr>
          <p:cNvSpPr>
            <a:spLocks noGrp="1"/>
          </p:cNvSpPr>
          <p:nvPr>
            <p:ph idx="1"/>
          </p:nvPr>
        </p:nvSpPr>
        <p:spPr>
          <a:xfrm>
            <a:off x="838200" y="977212"/>
            <a:ext cx="10515600" cy="4351338"/>
          </a:xfrm>
        </p:spPr>
        <p:txBody>
          <a:bodyPr>
            <a:normAutofit/>
          </a:bodyPr>
          <a:lstStyle/>
          <a:p>
            <a:pPr marL="0" indent="0">
              <a:buNone/>
            </a:pPr>
            <a:r>
              <a:rPr lang="en-IN" sz="1800" b="1" dirty="0"/>
              <a:t>Object Detection System Using Computer Vision</a:t>
            </a:r>
          </a:p>
          <a:p>
            <a:r>
              <a:rPr lang="en-IN" sz="1800" b="1" dirty="0"/>
              <a:t>Domain:</a:t>
            </a:r>
            <a:r>
              <a:rPr lang="en-IN" sz="1800" dirty="0"/>
              <a:t> Computer Vision / AI</a:t>
            </a:r>
            <a:br>
              <a:rPr lang="en-IN" sz="1800" dirty="0"/>
            </a:br>
            <a:r>
              <a:rPr lang="en-IN" sz="1800" b="1" dirty="0"/>
              <a:t>Technologies:</a:t>
            </a:r>
            <a:r>
              <a:rPr lang="en-IN" sz="1800" dirty="0"/>
              <a:t> Python, OpenCV, YOLO / TensorFlow</a:t>
            </a:r>
            <a:br>
              <a:rPr lang="en-IN" sz="1800" dirty="0"/>
            </a:br>
            <a:r>
              <a:rPr lang="en-IN" sz="1800" b="1" dirty="0"/>
              <a:t>Description:</a:t>
            </a:r>
            <a:br>
              <a:rPr lang="en-IN" sz="1800" dirty="0"/>
            </a:br>
            <a:r>
              <a:rPr lang="en-IN" sz="1800" dirty="0"/>
              <a:t>Implement an object detection model for applications such as traffic monitoring, face detection, or safety compliance detection.</a:t>
            </a:r>
          </a:p>
          <a:p>
            <a:r>
              <a:rPr lang="en-IN" sz="1800" b="1" dirty="0"/>
              <a:t>Industry Relevance:</a:t>
            </a:r>
            <a:br>
              <a:rPr lang="en-IN" sz="1800" dirty="0"/>
            </a:br>
            <a:r>
              <a:rPr lang="en-IN" sz="1800" dirty="0"/>
              <a:t>Surveillance, autonomous systems, and smart cities.</a:t>
            </a:r>
          </a:p>
          <a:p>
            <a:endParaRPr lang="en-IN" sz="1800" dirty="0"/>
          </a:p>
        </p:txBody>
      </p:sp>
    </p:spTree>
    <p:extLst>
      <p:ext uri="{BB962C8B-B14F-4D97-AF65-F5344CB8AC3E}">
        <p14:creationId xmlns:p14="http://schemas.microsoft.com/office/powerpoint/2010/main" val="3618933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92EAC-B5EC-751C-9252-0F4821A14D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29B28-7918-B410-FFDA-3CF6ED2D04B5}"/>
              </a:ext>
            </a:extLst>
          </p:cNvPr>
          <p:cNvSpPr>
            <a:spLocks noGrp="1"/>
          </p:cNvSpPr>
          <p:nvPr>
            <p:ph idx="1"/>
          </p:nvPr>
        </p:nvSpPr>
        <p:spPr>
          <a:xfrm>
            <a:off x="838200" y="967786"/>
            <a:ext cx="10515600" cy="4351338"/>
          </a:xfrm>
        </p:spPr>
        <p:txBody>
          <a:bodyPr>
            <a:normAutofit lnSpcReduction="10000"/>
          </a:bodyPr>
          <a:lstStyle/>
          <a:p>
            <a:pPr marL="0" indent="0">
              <a:buNone/>
            </a:pPr>
            <a:r>
              <a:rPr lang="en-IN" sz="1800" b="1" dirty="0"/>
              <a:t>2. GitHub Repository &amp; Version Control </a:t>
            </a:r>
            <a:endParaRPr lang="en-IN" sz="1800" dirty="0"/>
          </a:p>
          <a:p>
            <a:pPr marL="0" indent="0">
              <a:buNone/>
            </a:pPr>
            <a:r>
              <a:rPr lang="en-IN" sz="1800" b="1" dirty="0"/>
              <a:t>Description:</a:t>
            </a:r>
            <a:br>
              <a:rPr lang="en-IN" sz="1800" dirty="0"/>
            </a:br>
            <a:r>
              <a:rPr lang="en-IN" sz="1800" dirty="0"/>
              <a:t>Students must maintain a </a:t>
            </a:r>
            <a:r>
              <a:rPr lang="en-IN" sz="1800" b="1" dirty="0"/>
              <a:t>public GitHub repository</a:t>
            </a:r>
            <a:r>
              <a:rPr lang="en-IN" sz="1800" dirty="0"/>
              <a:t> for the project including:</a:t>
            </a:r>
          </a:p>
          <a:p>
            <a:pPr lvl="0"/>
            <a:r>
              <a:rPr lang="en-IN" sz="1800" dirty="0"/>
              <a:t>Source code</a:t>
            </a:r>
          </a:p>
          <a:p>
            <a:pPr lvl="0"/>
            <a:r>
              <a:rPr lang="en-IN" sz="1800" dirty="0"/>
              <a:t>README file</a:t>
            </a:r>
          </a:p>
          <a:p>
            <a:pPr lvl="0"/>
            <a:r>
              <a:rPr lang="en-IN" sz="1800" dirty="0"/>
              <a:t>Commit history</a:t>
            </a:r>
          </a:p>
          <a:p>
            <a:pPr lvl="0"/>
            <a:r>
              <a:rPr lang="en-IN" sz="1800" dirty="0"/>
              <a:t>Basic project documentation</a:t>
            </a:r>
          </a:p>
          <a:p>
            <a:pPr marL="0" indent="0">
              <a:buNone/>
            </a:pPr>
            <a:r>
              <a:rPr lang="en-IN" sz="1800" b="1" dirty="0"/>
              <a:t>3. LinkedIn Professional Portfolio </a:t>
            </a:r>
            <a:endParaRPr lang="en-IN" sz="1800" dirty="0"/>
          </a:p>
          <a:p>
            <a:pPr marL="0" indent="0">
              <a:buNone/>
            </a:pPr>
            <a:r>
              <a:rPr lang="en-IN" sz="1800" b="1" dirty="0"/>
              <a:t>Description:</a:t>
            </a:r>
            <a:br>
              <a:rPr lang="en-IN" sz="1800" dirty="0"/>
            </a:br>
            <a:r>
              <a:rPr lang="en-IN" sz="1800" dirty="0"/>
              <a:t>Students must:</a:t>
            </a:r>
          </a:p>
          <a:p>
            <a:pPr lvl="0"/>
            <a:r>
              <a:rPr lang="en-IN" sz="1800" dirty="0"/>
              <a:t>Showcase the live demonstration of project on LinkedIn with description, skills, and outcomes</a:t>
            </a:r>
          </a:p>
          <a:p>
            <a:pPr lvl="0"/>
            <a:endParaRPr lang="en-IN" sz="1800" dirty="0"/>
          </a:p>
          <a:p>
            <a:pPr marL="0" lvl="0" indent="0">
              <a:buNone/>
            </a:pPr>
            <a:r>
              <a:rPr lang="en-IN" sz="1800" dirty="0"/>
              <a:t>4. </a:t>
            </a:r>
            <a:r>
              <a:rPr lang="en-IN" sz="1800" b="1" dirty="0"/>
              <a:t>Project Report Submission</a:t>
            </a:r>
          </a:p>
          <a:p>
            <a:pPr marL="0" lvl="0" indent="0">
              <a:buNone/>
            </a:pPr>
            <a:endParaRPr lang="en-IN" sz="1800" dirty="0"/>
          </a:p>
          <a:p>
            <a:pPr marL="0" lvl="0" indent="0">
              <a:buNone/>
            </a:pPr>
            <a:endParaRPr lang="en-IN" sz="1800" dirty="0"/>
          </a:p>
        </p:txBody>
      </p:sp>
    </p:spTree>
    <p:extLst>
      <p:ext uri="{BB962C8B-B14F-4D97-AF65-F5344CB8AC3E}">
        <p14:creationId xmlns:p14="http://schemas.microsoft.com/office/powerpoint/2010/main" val="3113880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C58AA-D9E7-9F99-F660-9B57F5AE69D2}"/>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AADC641-C682-C719-D2AB-63276EA35AE1}"/>
              </a:ext>
            </a:extLst>
          </p:cNvPr>
          <p:cNvGraphicFramePr>
            <a:graphicFrameLocks noGrp="1"/>
          </p:cNvGraphicFramePr>
          <p:nvPr>
            <p:ph idx="1"/>
            <p:extLst>
              <p:ext uri="{D42A27DB-BD31-4B8C-83A1-F6EECF244321}">
                <p14:modId xmlns:p14="http://schemas.microsoft.com/office/powerpoint/2010/main" val="4085368341"/>
              </p:ext>
            </p:extLst>
          </p:nvPr>
        </p:nvGraphicFramePr>
        <p:xfrm>
          <a:off x="693019" y="1846165"/>
          <a:ext cx="10472285" cy="3451731"/>
        </p:xfrm>
        <a:graphic>
          <a:graphicData uri="http://schemas.openxmlformats.org/drawingml/2006/table">
            <a:tbl>
              <a:tblPr firstRow="1" bandRow="1">
                <a:tableStyleId>{5C22544A-7EE6-4342-B048-85BDC9FD1C3A}</a:tableStyleId>
              </a:tblPr>
              <a:tblGrid>
                <a:gridCol w="4093847">
                  <a:extLst>
                    <a:ext uri="{9D8B030D-6E8A-4147-A177-3AD203B41FA5}">
                      <a16:colId xmlns:a16="http://schemas.microsoft.com/office/drawing/2014/main" val="1655637502"/>
                    </a:ext>
                  </a:extLst>
                </a:gridCol>
                <a:gridCol w="3920868">
                  <a:extLst>
                    <a:ext uri="{9D8B030D-6E8A-4147-A177-3AD203B41FA5}">
                      <a16:colId xmlns:a16="http://schemas.microsoft.com/office/drawing/2014/main" val="2146560278"/>
                    </a:ext>
                  </a:extLst>
                </a:gridCol>
                <a:gridCol w="2457570">
                  <a:extLst>
                    <a:ext uri="{9D8B030D-6E8A-4147-A177-3AD203B41FA5}">
                      <a16:colId xmlns:a16="http://schemas.microsoft.com/office/drawing/2014/main" val="1166737568"/>
                    </a:ext>
                  </a:extLst>
                </a:gridCol>
              </a:tblGrid>
              <a:tr h="429471">
                <a:tc>
                  <a:txBody>
                    <a:bodyPr/>
                    <a:lstStyle/>
                    <a:p>
                      <a:pPr>
                        <a:buNone/>
                      </a:pPr>
                      <a:r>
                        <a:rPr lang="en-IN" sz="2400" b="1" dirty="0">
                          <a:latin typeface="Times New Roman" panose="02020603050405020304" pitchFamily="18" charset="0"/>
                          <a:cs typeface="Times New Roman" panose="02020603050405020304" pitchFamily="18" charset="0"/>
                        </a:rPr>
                        <a:t>Student Type</a:t>
                      </a:r>
                    </a:p>
                  </a:txBody>
                  <a:tcPr anchor="ctr"/>
                </a:tc>
                <a:tc>
                  <a:txBody>
                    <a:bodyPr/>
                    <a:lstStyle/>
                    <a:p>
                      <a:pPr>
                        <a:buNone/>
                      </a:pPr>
                      <a:r>
                        <a:rPr lang="en-IN" sz="2400" b="1"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sz="2400" b="1" dirty="0">
                          <a:latin typeface="Times New Roman" panose="02020603050405020304" pitchFamily="18" charset="0"/>
                          <a:cs typeface="Times New Roman" panose="02020603050405020304" pitchFamily="18" charset="0"/>
                        </a:rPr>
                        <a:t>Marks</a:t>
                      </a:r>
                    </a:p>
                  </a:txBody>
                  <a:tcPr anchor="ctr"/>
                </a:tc>
                <a:extLst>
                  <a:ext uri="{0D108BD9-81ED-4DB2-BD59-A6C34878D82A}">
                    <a16:rowId xmlns:a16="http://schemas.microsoft.com/office/drawing/2014/main" val="1831804152"/>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Tech Stack Analysis</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25</a:t>
                      </a:r>
                    </a:p>
                  </a:txBody>
                  <a:tcPr anchor="ctr"/>
                </a:tc>
                <a:extLst>
                  <a:ext uri="{0D108BD9-81ED-4DB2-BD59-A6C34878D82A}">
                    <a16:rowId xmlns:a16="http://schemas.microsoft.com/office/drawing/2014/main" val="2461167476"/>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Development Workflow Analysis </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20</a:t>
                      </a:r>
                    </a:p>
                  </a:txBody>
                  <a:tcPr anchor="ctr"/>
                </a:tc>
                <a:extLst>
                  <a:ext uri="{0D108BD9-81ED-4DB2-BD59-A6C34878D82A}">
                    <a16:rowId xmlns:a16="http://schemas.microsoft.com/office/drawing/2014/main" val="3876897774"/>
                  </a:ext>
                </a:extLst>
              </a:tr>
              <a:tr h="423588">
                <a:tc>
                  <a:txBody>
                    <a:bodyPr/>
                    <a:lstStyle/>
                    <a:p>
                      <a:pPr>
                        <a:buNone/>
                      </a:pPr>
                      <a:r>
                        <a:rPr lang="en-IN" sz="2000" b="1" dirty="0">
                          <a:latin typeface="Times New Roman" panose="02020603050405020304" pitchFamily="18" charset="0"/>
                          <a:cs typeface="Times New Roman" panose="02020603050405020304" pitchFamily="18" charset="0"/>
                        </a:rPr>
                        <a:t>Placed Total</a:t>
                      </a:r>
                    </a:p>
                  </a:txBody>
                  <a:tcPr anchor="ctr"/>
                </a:tc>
                <a:tc>
                  <a:txBody>
                    <a:bodyPr/>
                    <a:lstStyle/>
                    <a:p>
                      <a:pPr>
                        <a:buNone/>
                      </a:pP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45</a:t>
                      </a:r>
                    </a:p>
                  </a:txBody>
                  <a:tcPr anchor="ctr"/>
                </a:tc>
                <a:extLst>
                  <a:ext uri="{0D108BD9-81ED-4DB2-BD59-A6C34878D82A}">
                    <a16:rowId xmlns:a16="http://schemas.microsoft.com/office/drawing/2014/main" val="2665926397"/>
                  </a:ext>
                </a:extLst>
              </a:tr>
              <a:tr h="423588">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380517667"/>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Non-Placed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Industry Project/ Presentation</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25</a:t>
                      </a:r>
                    </a:p>
                  </a:txBody>
                  <a:tcPr anchor="ctr"/>
                </a:tc>
                <a:extLst>
                  <a:ext uri="{0D108BD9-81ED-4DB2-BD59-A6C34878D82A}">
                    <a16:rowId xmlns:a16="http://schemas.microsoft.com/office/drawing/2014/main" val="892834709"/>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Non-Placed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Development Workflow Analysis </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20</a:t>
                      </a:r>
                    </a:p>
                  </a:txBody>
                  <a:tcPr anchor="ctr"/>
                </a:tc>
                <a:extLst>
                  <a:ext uri="{0D108BD9-81ED-4DB2-BD59-A6C34878D82A}">
                    <a16:rowId xmlns:a16="http://schemas.microsoft.com/office/drawing/2014/main" val="3832944358"/>
                  </a:ext>
                </a:extLst>
              </a:tr>
              <a:tr h="429471">
                <a:tc>
                  <a:txBody>
                    <a:bodyPr/>
                    <a:lstStyle/>
                    <a:p>
                      <a:pPr>
                        <a:buNone/>
                      </a:pPr>
                      <a:r>
                        <a:rPr lang="en-IN" sz="2000" b="1" dirty="0">
                          <a:latin typeface="Times New Roman" panose="02020603050405020304" pitchFamily="18" charset="0"/>
                          <a:cs typeface="Times New Roman" panose="02020603050405020304" pitchFamily="18" charset="0"/>
                        </a:rPr>
                        <a:t>Non-Placed Total</a:t>
                      </a:r>
                    </a:p>
                  </a:txBody>
                  <a:tcPr anchor="ctr"/>
                </a:tc>
                <a:tc>
                  <a:txBody>
                    <a:bodyPr/>
                    <a:lstStyle/>
                    <a:p>
                      <a:endParaRPr lang="en-IN" sz="2000" b="1" dirty="0">
                        <a:latin typeface="Times New Roman" panose="02020603050405020304" pitchFamily="18" charset="0"/>
                        <a:cs typeface="Times New Roman" panose="02020603050405020304" pitchFamily="18" charset="0"/>
                      </a:endParaRPr>
                    </a:p>
                  </a:txBody>
                  <a:tcPr/>
                </a:tc>
                <a:tc>
                  <a:txBody>
                    <a:bodyPr/>
                    <a:lstStyle/>
                    <a:p>
                      <a:r>
                        <a:rPr lang="en-IN" sz="2000" b="1"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1027672"/>
                  </a:ext>
                </a:extLst>
              </a:tr>
            </a:tbl>
          </a:graphicData>
        </a:graphic>
      </p:graphicFrame>
      <p:sp>
        <p:nvSpPr>
          <p:cNvPr id="3" name="TextBox 13">
            <a:extLst>
              <a:ext uri="{FF2B5EF4-FFF2-40B4-BE49-F238E27FC236}">
                <a16:creationId xmlns:a16="http://schemas.microsoft.com/office/drawing/2014/main" id="{39CBF25B-999D-7816-9080-39771192BD0F}"/>
              </a:ext>
            </a:extLst>
          </p:cNvPr>
          <p:cNvSpPr txBox="1">
            <a:spLocks noChangeArrowheads="1"/>
          </p:cNvSpPr>
          <p:nvPr/>
        </p:nvSpPr>
        <p:spPr bwMode="auto">
          <a:xfrm>
            <a:off x="676175" y="464018"/>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3600" b="1" dirty="0">
                <a:solidFill>
                  <a:srgbClr val="222222"/>
                </a:solidFill>
                <a:latin typeface="Times New Roman" panose="02020603050405020304" pitchFamily="18" charset="0"/>
                <a:cs typeface="Times New Roman" panose="02020603050405020304" pitchFamily="18" charset="0"/>
              </a:rPr>
              <a:t>CA 1 (Presentation): Evaluation Parameters</a:t>
            </a:r>
          </a:p>
        </p:txBody>
      </p:sp>
    </p:spTree>
    <p:extLst>
      <p:ext uri="{BB962C8B-B14F-4D97-AF65-F5344CB8AC3E}">
        <p14:creationId xmlns:p14="http://schemas.microsoft.com/office/powerpoint/2010/main" val="96137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F22EA-9E34-A933-2386-0351CE8AFFA8}"/>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040E750-576E-79AF-F4B7-F8DAD36866DB}"/>
              </a:ext>
            </a:extLst>
          </p:cNvPr>
          <p:cNvGraphicFramePr>
            <a:graphicFrameLocks noGrp="1"/>
          </p:cNvGraphicFramePr>
          <p:nvPr>
            <p:ph idx="1"/>
            <p:extLst>
              <p:ext uri="{D42A27DB-BD31-4B8C-83A1-F6EECF244321}">
                <p14:modId xmlns:p14="http://schemas.microsoft.com/office/powerpoint/2010/main" val="1808319871"/>
              </p:ext>
            </p:extLst>
          </p:nvPr>
        </p:nvGraphicFramePr>
        <p:xfrm>
          <a:off x="1146208" y="1509281"/>
          <a:ext cx="10294856" cy="4809576"/>
        </p:xfrm>
        <a:graphic>
          <a:graphicData uri="http://schemas.openxmlformats.org/drawingml/2006/table">
            <a:tbl>
              <a:tblPr firstRow="1" bandRow="1">
                <a:tableStyleId>{5C22544A-7EE6-4342-B048-85BDC9FD1C3A}</a:tableStyleId>
              </a:tblPr>
              <a:tblGrid>
                <a:gridCol w="2030129">
                  <a:extLst>
                    <a:ext uri="{9D8B030D-6E8A-4147-A177-3AD203B41FA5}">
                      <a16:colId xmlns:a16="http://schemas.microsoft.com/office/drawing/2014/main" val="1655637502"/>
                    </a:ext>
                  </a:extLst>
                </a:gridCol>
                <a:gridCol w="2502569">
                  <a:extLst>
                    <a:ext uri="{9D8B030D-6E8A-4147-A177-3AD203B41FA5}">
                      <a16:colId xmlns:a16="http://schemas.microsoft.com/office/drawing/2014/main" val="2146560278"/>
                    </a:ext>
                  </a:extLst>
                </a:gridCol>
                <a:gridCol w="4273617">
                  <a:extLst>
                    <a:ext uri="{9D8B030D-6E8A-4147-A177-3AD203B41FA5}">
                      <a16:colId xmlns:a16="http://schemas.microsoft.com/office/drawing/2014/main" val="1932697205"/>
                    </a:ext>
                  </a:extLst>
                </a:gridCol>
                <a:gridCol w="1488541">
                  <a:extLst>
                    <a:ext uri="{9D8B030D-6E8A-4147-A177-3AD203B41FA5}">
                      <a16:colId xmlns:a16="http://schemas.microsoft.com/office/drawing/2014/main" val="1166737568"/>
                    </a:ext>
                  </a:extLst>
                </a:gridCol>
              </a:tblGrid>
              <a:tr h="429471">
                <a:tc>
                  <a:txBody>
                    <a:bodyPr/>
                    <a:lstStyle/>
                    <a:p>
                      <a:pPr>
                        <a:buNone/>
                      </a:pPr>
                      <a:r>
                        <a:rPr lang="en-IN" sz="2400" b="1" dirty="0">
                          <a:latin typeface="Times New Roman" panose="02020603050405020304" pitchFamily="18" charset="0"/>
                          <a:cs typeface="Times New Roman" panose="02020603050405020304" pitchFamily="18" charset="0"/>
                        </a:rPr>
                        <a:t>Student Type</a:t>
                      </a:r>
                    </a:p>
                  </a:txBody>
                  <a:tcPr anchor="ctr"/>
                </a:tc>
                <a:tc>
                  <a:txBody>
                    <a:bodyPr/>
                    <a:lstStyle/>
                    <a:p>
                      <a:pPr>
                        <a:buNone/>
                      </a:pPr>
                      <a:r>
                        <a:rPr lang="en-IN" sz="2400" b="1"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sz="2400" b="1" dirty="0">
                          <a:latin typeface="Times New Roman" panose="02020603050405020304" pitchFamily="18" charset="0"/>
                          <a:cs typeface="Times New Roman" panose="02020603050405020304" pitchFamily="18" charset="0"/>
                        </a:rPr>
                        <a:t>Description</a:t>
                      </a:r>
                    </a:p>
                  </a:txBody>
                  <a:tcPr anchor="ctr"/>
                </a:tc>
                <a:tc>
                  <a:txBody>
                    <a:bodyPr/>
                    <a:lstStyle/>
                    <a:p>
                      <a:pPr>
                        <a:buNone/>
                      </a:pPr>
                      <a:r>
                        <a:rPr lang="en-IN" sz="2400" b="1" dirty="0">
                          <a:latin typeface="Times New Roman" panose="02020603050405020304" pitchFamily="18" charset="0"/>
                          <a:cs typeface="Times New Roman" panose="02020603050405020304" pitchFamily="18" charset="0"/>
                        </a:rPr>
                        <a:t>Marks</a:t>
                      </a:r>
                    </a:p>
                  </a:txBody>
                  <a:tcPr anchor="ctr"/>
                </a:tc>
                <a:extLst>
                  <a:ext uri="{0D108BD9-81ED-4DB2-BD59-A6C34878D82A}">
                    <a16:rowId xmlns:a16="http://schemas.microsoft.com/office/drawing/2014/main" val="1831804152"/>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LinkedIn +GitHub </a:t>
                      </a:r>
                    </a:p>
                  </a:txBody>
                  <a:tcPr anchor="ctr"/>
                </a:tc>
                <a:tc>
                  <a:txBody>
                    <a:bodyPr/>
                    <a:lstStyle/>
                    <a:p>
                      <a:pPr>
                        <a:buNone/>
                      </a:pPr>
                      <a:r>
                        <a:rPr lang="en-US" sz="2000" b="0" dirty="0">
                          <a:latin typeface="Times New Roman" panose="02020603050405020304" pitchFamily="18" charset="0"/>
                          <a:cs typeface="Times New Roman" panose="02020603050405020304" pitchFamily="18" charset="0"/>
                        </a:rPr>
                        <a:t>Brief explanation of project workflow and technology stack</a:t>
                      </a:r>
                      <a:endParaRPr lang="en-IN" sz="2000" b="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15</a:t>
                      </a:r>
                    </a:p>
                  </a:txBody>
                  <a:tcPr anchor="ctr"/>
                </a:tc>
                <a:extLst>
                  <a:ext uri="{0D108BD9-81ED-4DB2-BD59-A6C34878D82A}">
                    <a16:rowId xmlns:a16="http://schemas.microsoft.com/office/drawing/2014/main" val="2461167476"/>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Project Report</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Report with GitHub and LinkedIn links/Social media</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30</a:t>
                      </a:r>
                    </a:p>
                  </a:txBody>
                  <a:tcPr anchor="ctr"/>
                </a:tc>
                <a:extLst>
                  <a:ext uri="{0D108BD9-81ED-4DB2-BD59-A6C34878D82A}">
                    <a16:rowId xmlns:a16="http://schemas.microsoft.com/office/drawing/2014/main" val="3876897774"/>
                  </a:ext>
                </a:extLst>
              </a:tr>
              <a:tr h="423588">
                <a:tc>
                  <a:txBody>
                    <a:bodyPr/>
                    <a:lstStyle/>
                    <a:p>
                      <a:pPr>
                        <a:buNone/>
                      </a:pPr>
                      <a:r>
                        <a:rPr lang="en-IN" sz="2000" b="1" dirty="0">
                          <a:latin typeface="Times New Roman" panose="02020603050405020304" pitchFamily="18" charset="0"/>
                          <a:cs typeface="Times New Roman" panose="02020603050405020304" pitchFamily="18" charset="0"/>
                        </a:rPr>
                        <a:t>Placed Total</a:t>
                      </a:r>
                    </a:p>
                  </a:txBody>
                  <a:tcPr anchor="ctr"/>
                </a:tc>
                <a:tc>
                  <a:txBody>
                    <a:bodyPr/>
                    <a:lstStyle/>
                    <a:p>
                      <a:pPr>
                        <a:buNone/>
                      </a:pP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buNone/>
                      </a:pP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45</a:t>
                      </a:r>
                    </a:p>
                  </a:txBody>
                  <a:tcPr anchor="ctr"/>
                </a:tc>
                <a:extLst>
                  <a:ext uri="{0D108BD9-81ED-4DB2-BD59-A6C34878D82A}">
                    <a16:rowId xmlns:a16="http://schemas.microsoft.com/office/drawing/2014/main" val="2665926397"/>
                  </a:ext>
                </a:extLst>
              </a:tr>
              <a:tr h="423588">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380517667"/>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Non-Placed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LinkedIn +GitHub</a:t>
                      </a:r>
                    </a:p>
                  </a:txBody>
                  <a:tcPr anchor="ctr"/>
                </a:tc>
                <a:tc>
                  <a:txBody>
                    <a:bodyPr/>
                    <a:lstStyle/>
                    <a:p>
                      <a:pPr>
                        <a:buNone/>
                      </a:pPr>
                      <a:r>
                        <a:rPr lang="en-US" sz="2000" b="0" dirty="0">
                          <a:latin typeface="Times New Roman" panose="02020603050405020304" pitchFamily="18" charset="0"/>
                          <a:cs typeface="Times New Roman" panose="02020603050405020304" pitchFamily="18" charset="0"/>
                        </a:rPr>
                        <a:t>Complete execution and justification of implementation</a:t>
                      </a:r>
                      <a:endParaRPr lang="en-IN" sz="2000" b="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25</a:t>
                      </a:r>
                    </a:p>
                  </a:txBody>
                  <a:tcPr anchor="ctr"/>
                </a:tc>
                <a:extLst>
                  <a:ext uri="{0D108BD9-81ED-4DB2-BD59-A6C34878D82A}">
                    <a16:rowId xmlns:a16="http://schemas.microsoft.com/office/drawing/2014/main" val="892834709"/>
                  </a:ext>
                </a:extLst>
              </a:tr>
              <a:tr h="429471">
                <a:tc>
                  <a:txBody>
                    <a:bodyPr/>
                    <a:lstStyle/>
                    <a:p>
                      <a:pPr>
                        <a:buNone/>
                      </a:pPr>
                      <a:r>
                        <a:rPr lang="en-IN" sz="2000" b="0" dirty="0">
                          <a:latin typeface="Times New Roman" panose="02020603050405020304" pitchFamily="18" charset="0"/>
                          <a:cs typeface="Times New Roman" panose="02020603050405020304" pitchFamily="18" charset="0"/>
                        </a:rPr>
                        <a:t>Non-Placed</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Project Report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latin typeface="Times New Roman" panose="02020603050405020304" pitchFamily="18" charset="0"/>
                          <a:cs typeface="Times New Roman" panose="02020603050405020304" pitchFamily="18" charset="0"/>
                        </a:rPr>
                        <a:t>Report with GitHub repository  and LinkedIn links / Social media</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20</a:t>
                      </a:r>
                    </a:p>
                  </a:txBody>
                  <a:tcPr anchor="ctr"/>
                </a:tc>
                <a:extLst>
                  <a:ext uri="{0D108BD9-81ED-4DB2-BD59-A6C34878D82A}">
                    <a16:rowId xmlns:a16="http://schemas.microsoft.com/office/drawing/2014/main" val="3832944358"/>
                  </a:ext>
                </a:extLst>
              </a:tr>
              <a:tr h="429471">
                <a:tc>
                  <a:txBody>
                    <a:bodyPr/>
                    <a:lstStyle/>
                    <a:p>
                      <a:pPr>
                        <a:buNone/>
                      </a:pPr>
                      <a:r>
                        <a:rPr lang="en-IN" sz="2000" b="1" dirty="0">
                          <a:latin typeface="Times New Roman" panose="02020603050405020304" pitchFamily="18" charset="0"/>
                          <a:cs typeface="Times New Roman" panose="02020603050405020304" pitchFamily="18" charset="0"/>
                        </a:rPr>
                        <a:t>Non-Placed Total</a:t>
                      </a:r>
                    </a:p>
                  </a:txBody>
                  <a:tcPr anchor="ctr"/>
                </a:tc>
                <a:tc>
                  <a:txBody>
                    <a:bodyPr/>
                    <a:lstStyle/>
                    <a:p>
                      <a:endParaRPr lang="en-IN" sz="2000" b="1" dirty="0">
                        <a:latin typeface="Times New Roman" panose="02020603050405020304" pitchFamily="18" charset="0"/>
                        <a:cs typeface="Times New Roman" panose="02020603050405020304" pitchFamily="18" charset="0"/>
                      </a:endParaRPr>
                    </a:p>
                  </a:txBody>
                  <a:tcPr/>
                </a:tc>
                <a:tc>
                  <a:txBody>
                    <a:bodyPr/>
                    <a:lstStyle/>
                    <a:p>
                      <a:endParaRPr lang="en-IN" sz="2000" b="1" dirty="0">
                        <a:latin typeface="Times New Roman" panose="02020603050405020304" pitchFamily="18" charset="0"/>
                        <a:cs typeface="Times New Roman" panose="02020603050405020304" pitchFamily="18" charset="0"/>
                      </a:endParaRPr>
                    </a:p>
                  </a:txBody>
                  <a:tcPr/>
                </a:tc>
                <a:tc>
                  <a:txBody>
                    <a:bodyPr/>
                    <a:lstStyle/>
                    <a:p>
                      <a:r>
                        <a:rPr lang="en-IN" sz="2000" b="1"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1027672"/>
                  </a:ext>
                </a:extLst>
              </a:tr>
            </a:tbl>
          </a:graphicData>
        </a:graphic>
      </p:graphicFrame>
      <p:sp>
        <p:nvSpPr>
          <p:cNvPr id="3" name="TextBox 13">
            <a:extLst>
              <a:ext uri="{FF2B5EF4-FFF2-40B4-BE49-F238E27FC236}">
                <a16:creationId xmlns:a16="http://schemas.microsoft.com/office/drawing/2014/main" id="{16DF5728-10BE-DC96-AA5F-360A36701C4B}"/>
              </a:ext>
            </a:extLst>
          </p:cNvPr>
          <p:cNvSpPr txBox="1">
            <a:spLocks noChangeArrowheads="1"/>
          </p:cNvSpPr>
          <p:nvPr/>
        </p:nvSpPr>
        <p:spPr bwMode="auto">
          <a:xfrm>
            <a:off x="560671" y="521770"/>
            <a:ext cx="10820400" cy="66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3200" b="1" dirty="0">
                <a:solidFill>
                  <a:srgbClr val="222222"/>
                </a:solidFill>
                <a:latin typeface="Times New Roman" panose="02020603050405020304" pitchFamily="18" charset="0"/>
                <a:cs typeface="Times New Roman" panose="02020603050405020304" pitchFamily="18" charset="0"/>
              </a:rPr>
              <a:t>CA 2 (Seminar Report): Evaluation Parameters</a:t>
            </a:r>
          </a:p>
        </p:txBody>
      </p:sp>
    </p:spTree>
    <p:extLst>
      <p:ext uri="{BB962C8B-B14F-4D97-AF65-F5344CB8AC3E}">
        <p14:creationId xmlns:p14="http://schemas.microsoft.com/office/powerpoint/2010/main" val="769995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35C98F-4642-5969-B2CB-14F26BBB50D4}"/>
              </a:ext>
            </a:extLst>
          </p:cNvPr>
          <p:cNvSpPr txBox="1"/>
          <p:nvPr/>
        </p:nvSpPr>
        <p:spPr>
          <a:xfrm>
            <a:off x="875448" y="1517167"/>
            <a:ext cx="10415587" cy="2767424"/>
          </a:xfrm>
          <a:prstGeom prst="rect">
            <a:avLst/>
          </a:prstGeom>
          <a:noFill/>
        </p:spPr>
        <p:txBody>
          <a:bodyPr wrap="square">
            <a:spAutoFit/>
          </a:bodyPr>
          <a:lstStyle/>
          <a:p>
            <a:pPr algn="just">
              <a:spcBef>
                <a:spcPts val="695"/>
              </a:spcBef>
              <a:buNone/>
              <a:tabLst>
                <a:tab pos="1798955" algn="l"/>
              </a:tabLst>
            </a:pPr>
            <a:r>
              <a:rPr lang="en-US" sz="2800" dirty="0">
                <a:latin typeface="Times New Roman" panose="02020603050405020304" pitchFamily="18" charset="0"/>
                <a:ea typeface="Arial MT"/>
                <a:cs typeface="Arial MT"/>
              </a:rPr>
              <a:t>S</a:t>
            </a:r>
            <a:r>
              <a:rPr lang="en-US" sz="2800" dirty="0">
                <a:effectLst/>
                <a:latin typeface="Times New Roman" panose="02020603050405020304" pitchFamily="18" charset="0"/>
                <a:ea typeface="Arial MT"/>
                <a:cs typeface="Arial MT"/>
              </a:rPr>
              <a:t>tudents may opt to complete an approved industry certification (such as AWS, Microsoft Azure, Google Cloud, IBM, Cisco, or equivalent), subject to approval by the standing committee. </a:t>
            </a:r>
          </a:p>
          <a:p>
            <a:pPr algn="just">
              <a:spcBef>
                <a:spcPts val="695"/>
              </a:spcBef>
              <a:buNone/>
              <a:tabLst>
                <a:tab pos="1798955" algn="l"/>
              </a:tabLst>
            </a:pPr>
            <a:r>
              <a:rPr lang="en-US" sz="2800" dirty="0">
                <a:effectLst/>
                <a:latin typeface="Times New Roman" panose="02020603050405020304" pitchFamily="18" charset="0"/>
                <a:ea typeface="Arial MT"/>
                <a:cs typeface="Arial MT"/>
              </a:rPr>
              <a:t>Successful completion of the certification, along with the required verification, shall be considered for </a:t>
            </a:r>
            <a:r>
              <a:rPr lang="en-US" sz="2800" dirty="0">
                <a:latin typeface="Times New Roman" panose="02020603050405020304" pitchFamily="18" charset="0"/>
                <a:ea typeface="Arial MT"/>
                <a:cs typeface="Arial MT"/>
              </a:rPr>
              <a:t>an 'O' grade </a:t>
            </a:r>
            <a:r>
              <a:rPr lang="en-US" sz="2800" dirty="0">
                <a:effectLst/>
                <a:latin typeface="Times New Roman" panose="02020603050405020304" pitchFamily="18" charset="0"/>
                <a:ea typeface="Arial MT"/>
                <a:cs typeface="Arial MT"/>
              </a:rPr>
              <a:t>subject to minimum attendance of  90% .</a:t>
            </a:r>
            <a:endParaRPr lang="en-GB" sz="2800" dirty="0">
              <a:effectLst/>
              <a:latin typeface="Arial MT"/>
              <a:ea typeface="Arial MT"/>
              <a:cs typeface="Arial MT"/>
            </a:endParaRPr>
          </a:p>
        </p:txBody>
      </p:sp>
      <p:sp>
        <p:nvSpPr>
          <p:cNvPr id="5" name="TextBox 13">
            <a:extLst>
              <a:ext uri="{FF2B5EF4-FFF2-40B4-BE49-F238E27FC236}">
                <a16:creationId xmlns:a16="http://schemas.microsoft.com/office/drawing/2014/main" id="{7FE312E0-5FA4-2DFA-2A76-3EBE3C921B9E}"/>
              </a:ext>
            </a:extLst>
          </p:cNvPr>
          <p:cNvSpPr txBox="1">
            <a:spLocks noChangeArrowheads="1"/>
          </p:cNvSpPr>
          <p:nvPr/>
        </p:nvSpPr>
        <p:spPr bwMode="auto">
          <a:xfrm>
            <a:off x="651510" y="666751"/>
            <a:ext cx="108204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31445" algn="ctr">
              <a:spcBef>
                <a:spcPts val="695"/>
              </a:spcBef>
              <a:buNone/>
              <a:tabLst>
                <a:tab pos="1798955" algn="l"/>
              </a:tabLst>
            </a:pPr>
            <a:r>
              <a:rPr lang="en-US" sz="3200" b="1" dirty="0">
                <a:latin typeface="Times New Roman" panose="02020603050405020304" pitchFamily="18" charset="0"/>
                <a:ea typeface="Arial MT"/>
                <a:cs typeface="Arial MT"/>
              </a:rPr>
              <a:t>Provision for Certification</a:t>
            </a:r>
            <a:endParaRPr lang="en-GB" sz="3200" dirty="0">
              <a:latin typeface="Arial MT"/>
              <a:ea typeface="Arial MT"/>
              <a:cs typeface="Arial MT"/>
            </a:endParaRPr>
          </a:p>
        </p:txBody>
      </p:sp>
      <p:sp>
        <p:nvSpPr>
          <p:cNvPr id="6" name="TextBox 5">
            <a:extLst>
              <a:ext uri="{FF2B5EF4-FFF2-40B4-BE49-F238E27FC236}">
                <a16:creationId xmlns:a16="http://schemas.microsoft.com/office/drawing/2014/main" id="{F20B1F3D-8EF6-1EE5-74C2-4CDB9A2802FA}"/>
              </a:ext>
            </a:extLst>
          </p:cNvPr>
          <p:cNvSpPr txBox="1"/>
          <p:nvPr/>
        </p:nvSpPr>
        <p:spPr>
          <a:xfrm>
            <a:off x="750770" y="4552749"/>
            <a:ext cx="10828422" cy="1569660"/>
          </a:xfrm>
          <a:prstGeom prst="rect">
            <a:avLst/>
          </a:prstGeom>
          <a:noFill/>
        </p:spPr>
        <p:txBody>
          <a:bodyPr wrap="square" rtlCol="0">
            <a:spAutoFit/>
          </a:bodyPr>
          <a:lstStyle/>
          <a:p>
            <a:pPr algn="ctr"/>
            <a:r>
              <a:rPr lang="en-US" sz="2400" b="1" dirty="0"/>
              <a:t>For Non-Placed Student </a:t>
            </a:r>
          </a:p>
          <a:p>
            <a:pPr algn="just"/>
            <a:r>
              <a:rPr lang="en-US" sz="2400" b="1" dirty="0"/>
              <a:t>***Students who secure placement after the completion of CA-1 shall be awarded full marks in CA-2, subject to submission and successful verification of valid placement proof.</a:t>
            </a:r>
            <a:endParaRPr lang="en-GB"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2104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
            <a:extLst>
              <a:ext uri="{FF2B5EF4-FFF2-40B4-BE49-F238E27FC236}">
                <a16:creationId xmlns:a16="http://schemas.microsoft.com/office/drawing/2014/main" id="{AEF036B3-833B-7A48-15A8-49BFCCA54B8C}"/>
              </a:ext>
            </a:extLst>
          </p:cNvPr>
          <p:cNvSpPr txBox="1">
            <a:spLocks noChangeArrowheads="1"/>
          </p:cNvSpPr>
          <p:nvPr/>
        </p:nvSpPr>
        <p:spPr bwMode="auto">
          <a:xfrm>
            <a:off x="651510" y="666751"/>
            <a:ext cx="108204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31445" algn="ctr">
              <a:spcBef>
                <a:spcPts val="695"/>
              </a:spcBef>
              <a:buNone/>
              <a:tabLst>
                <a:tab pos="1798955" algn="l"/>
              </a:tabLst>
            </a:pPr>
            <a:r>
              <a:rPr lang="en-US" sz="3200" b="1" dirty="0">
                <a:latin typeface="Times New Roman" panose="02020603050405020304" pitchFamily="18" charset="0"/>
                <a:ea typeface="Arial MT"/>
                <a:cs typeface="Arial MT"/>
              </a:rPr>
              <a:t>CA Allocation</a:t>
            </a:r>
            <a:endParaRPr lang="en-GB" sz="3200" dirty="0">
              <a:latin typeface="Arial MT"/>
              <a:ea typeface="Arial MT"/>
              <a:cs typeface="Arial MT"/>
            </a:endParaRPr>
          </a:p>
        </p:txBody>
      </p:sp>
      <p:graphicFrame>
        <p:nvGraphicFramePr>
          <p:cNvPr id="4" name="Table 3">
            <a:extLst>
              <a:ext uri="{FF2B5EF4-FFF2-40B4-BE49-F238E27FC236}">
                <a16:creationId xmlns:a16="http://schemas.microsoft.com/office/drawing/2014/main" id="{97AEA064-967F-2B55-4272-1986E2741483}"/>
              </a:ext>
            </a:extLst>
          </p:cNvPr>
          <p:cNvGraphicFramePr>
            <a:graphicFrameLocks noGrp="1"/>
          </p:cNvGraphicFramePr>
          <p:nvPr>
            <p:extLst>
              <p:ext uri="{D42A27DB-BD31-4B8C-83A1-F6EECF244321}">
                <p14:modId xmlns:p14="http://schemas.microsoft.com/office/powerpoint/2010/main" val="3984102505"/>
              </p:ext>
            </p:extLst>
          </p:nvPr>
        </p:nvGraphicFramePr>
        <p:xfrm>
          <a:off x="2099377" y="2028702"/>
          <a:ext cx="8128000" cy="13817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96052893"/>
                    </a:ext>
                  </a:extLst>
                </a:gridCol>
                <a:gridCol w="4064000">
                  <a:extLst>
                    <a:ext uri="{9D8B030D-6E8A-4147-A177-3AD203B41FA5}">
                      <a16:colId xmlns:a16="http://schemas.microsoft.com/office/drawing/2014/main" val="333411279"/>
                    </a:ext>
                  </a:extLst>
                </a:gridCol>
              </a:tblGrid>
              <a:tr h="370840">
                <a:tc>
                  <a:txBody>
                    <a:bodyPr/>
                    <a:lstStyle/>
                    <a:p>
                      <a:r>
                        <a:rPr lang="en-US" dirty="0"/>
                        <a:t>Allocation Week</a:t>
                      </a:r>
                      <a:endParaRPr lang="en-GB" dirty="0"/>
                    </a:p>
                  </a:txBody>
                  <a:tcPr/>
                </a:tc>
                <a:tc>
                  <a:txBody>
                    <a:bodyPr/>
                    <a:lstStyle/>
                    <a:p>
                      <a:r>
                        <a:rPr lang="en-US" dirty="0"/>
                        <a:t>Submission</a:t>
                      </a:r>
                      <a:endParaRPr lang="en-GB" dirty="0"/>
                    </a:p>
                  </a:txBody>
                  <a:tcPr/>
                </a:tc>
                <a:extLst>
                  <a:ext uri="{0D108BD9-81ED-4DB2-BD59-A6C34878D82A}">
                    <a16:rowId xmlns:a16="http://schemas.microsoft.com/office/drawing/2014/main" val="713361798"/>
                  </a:ext>
                </a:extLst>
              </a:tr>
              <a:tr h="370840">
                <a:tc>
                  <a:txBody>
                    <a:bodyPr/>
                    <a:lstStyle/>
                    <a:p>
                      <a:r>
                        <a:rPr lang="en-US" dirty="0"/>
                        <a:t>3</a:t>
                      </a:r>
                      <a:r>
                        <a:rPr lang="en-US" baseline="30000" dirty="0"/>
                        <a:t>rd</a:t>
                      </a:r>
                      <a:r>
                        <a:rPr lang="en-US" dirty="0"/>
                        <a:t>  week (By 23 January)</a:t>
                      </a:r>
                      <a:endParaRPr lang="en-GB" dirty="0"/>
                    </a:p>
                  </a:txBody>
                  <a:tcPr/>
                </a:tc>
                <a:tc>
                  <a:txBody>
                    <a:bodyPr/>
                    <a:lstStyle/>
                    <a:p>
                      <a:r>
                        <a:rPr lang="en-US" dirty="0"/>
                        <a:t>Presentation Should start from 4</a:t>
                      </a:r>
                      <a:r>
                        <a:rPr lang="en-US" baseline="30000" dirty="0"/>
                        <a:t>th</a:t>
                      </a:r>
                      <a:r>
                        <a:rPr lang="en-US" dirty="0"/>
                        <a:t> week onwards</a:t>
                      </a:r>
                      <a:endParaRPr lang="en-GB" dirty="0"/>
                    </a:p>
                  </a:txBody>
                  <a:tcPr/>
                </a:tc>
                <a:extLst>
                  <a:ext uri="{0D108BD9-81ED-4DB2-BD59-A6C34878D82A}">
                    <a16:rowId xmlns:a16="http://schemas.microsoft.com/office/drawing/2014/main" val="81412419"/>
                  </a:ext>
                </a:extLst>
              </a:tr>
              <a:tr h="37084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61046915"/>
                  </a:ext>
                </a:extLst>
              </a:tr>
            </a:tbl>
          </a:graphicData>
        </a:graphic>
      </p:graphicFrame>
      <p:graphicFrame>
        <p:nvGraphicFramePr>
          <p:cNvPr id="6" name="Table 5">
            <a:extLst>
              <a:ext uri="{FF2B5EF4-FFF2-40B4-BE49-F238E27FC236}">
                <a16:creationId xmlns:a16="http://schemas.microsoft.com/office/drawing/2014/main" id="{B6CE9D0A-E0FE-31BE-02A3-C5604B4DE91A}"/>
              </a:ext>
            </a:extLst>
          </p:cNvPr>
          <p:cNvGraphicFramePr>
            <a:graphicFrameLocks noGrp="1"/>
          </p:cNvGraphicFramePr>
          <p:nvPr>
            <p:extLst>
              <p:ext uri="{D42A27DB-BD31-4B8C-83A1-F6EECF244321}">
                <p14:modId xmlns:p14="http://schemas.microsoft.com/office/powerpoint/2010/main" val="3475066473"/>
              </p:ext>
            </p:extLst>
          </p:nvPr>
        </p:nvGraphicFramePr>
        <p:xfrm>
          <a:off x="2078521" y="4539292"/>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96052893"/>
                    </a:ext>
                  </a:extLst>
                </a:gridCol>
                <a:gridCol w="4064000">
                  <a:extLst>
                    <a:ext uri="{9D8B030D-6E8A-4147-A177-3AD203B41FA5}">
                      <a16:colId xmlns:a16="http://schemas.microsoft.com/office/drawing/2014/main" val="333411279"/>
                    </a:ext>
                  </a:extLst>
                </a:gridCol>
              </a:tblGrid>
              <a:tr h="370840">
                <a:tc>
                  <a:txBody>
                    <a:bodyPr/>
                    <a:lstStyle/>
                    <a:p>
                      <a:r>
                        <a:rPr lang="en-US" dirty="0"/>
                        <a:t>Allocation Week</a:t>
                      </a:r>
                      <a:endParaRPr lang="en-GB" dirty="0"/>
                    </a:p>
                  </a:txBody>
                  <a:tcPr/>
                </a:tc>
                <a:tc>
                  <a:txBody>
                    <a:bodyPr/>
                    <a:lstStyle/>
                    <a:p>
                      <a:r>
                        <a:rPr lang="en-US" dirty="0"/>
                        <a:t>Submission</a:t>
                      </a:r>
                      <a:endParaRPr lang="en-GB" dirty="0"/>
                    </a:p>
                  </a:txBody>
                  <a:tcPr/>
                </a:tc>
                <a:extLst>
                  <a:ext uri="{0D108BD9-81ED-4DB2-BD59-A6C34878D82A}">
                    <a16:rowId xmlns:a16="http://schemas.microsoft.com/office/drawing/2014/main" val="713361798"/>
                  </a:ext>
                </a:extLst>
              </a:tr>
              <a:tr h="370840">
                <a:tc>
                  <a:txBody>
                    <a:bodyPr/>
                    <a:lstStyle/>
                    <a:p>
                      <a:r>
                        <a:rPr lang="en-US" dirty="0"/>
                        <a:t>10</a:t>
                      </a:r>
                      <a:r>
                        <a:rPr lang="en-US" baseline="30000" dirty="0"/>
                        <a:t>th </a:t>
                      </a:r>
                      <a:r>
                        <a:rPr lang="en-US" dirty="0"/>
                        <a:t> Week (On or before 13 March )</a:t>
                      </a:r>
                      <a:endParaRPr lang="en-GB" dirty="0"/>
                    </a:p>
                  </a:txBody>
                  <a:tcPr/>
                </a:tc>
                <a:tc>
                  <a:txBody>
                    <a:bodyPr/>
                    <a:lstStyle/>
                    <a:p>
                      <a:r>
                        <a:rPr lang="en-US" dirty="0"/>
                        <a:t>First week of April</a:t>
                      </a:r>
                      <a:endParaRPr lang="en-GB" dirty="0"/>
                    </a:p>
                  </a:txBody>
                  <a:tcPr/>
                </a:tc>
                <a:extLst>
                  <a:ext uri="{0D108BD9-81ED-4DB2-BD59-A6C34878D82A}">
                    <a16:rowId xmlns:a16="http://schemas.microsoft.com/office/drawing/2014/main" val="81412419"/>
                  </a:ext>
                </a:extLst>
              </a:tr>
              <a:tr h="37084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61046915"/>
                  </a:ext>
                </a:extLst>
              </a:tr>
            </a:tbl>
          </a:graphicData>
        </a:graphic>
      </p:graphicFrame>
      <p:sp>
        <p:nvSpPr>
          <p:cNvPr id="7" name="TextBox 6">
            <a:extLst>
              <a:ext uri="{FF2B5EF4-FFF2-40B4-BE49-F238E27FC236}">
                <a16:creationId xmlns:a16="http://schemas.microsoft.com/office/drawing/2014/main" id="{3CE38412-2FC6-FB9A-BFE7-29116101A567}"/>
              </a:ext>
            </a:extLst>
          </p:cNvPr>
          <p:cNvSpPr txBox="1"/>
          <p:nvPr/>
        </p:nvSpPr>
        <p:spPr>
          <a:xfrm>
            <a:off x="2002054" y="1453415"/>
            <a:ext cx="369610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CA 1 </a:t>
            </a:r>
            <a:endParaRPr lang="en-GB"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99E212B-4944-A3AC-784F-A2E811A2B07E}"/>
              </a:ext>
            </a:extLst>
          </p:cNvPr>
          <p:cNvSpPr txBox="1"/>
          <p:nvPr/>
        </p:nvSpPr>
        <p:spPr>
          <a:xfrm>
            <a:off x="1942699" y="3877377"/>
            <a:ext cx="369610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CA 2</a:t>
            </a:r>
            <a:endParaRPr lang="en-GB"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236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Box 8"/>
          <p:cNvSpPr txBox="1">
            <a:spLocks noChangeArrowheads="1"/>
          </p:cNvSpPr>
          <p:nvPr/>
        </p:nvSpPr>
        <p:spPr bwMode="auto">
          <a:xfrm>
            <a:off x="2794001" y="520961"/>
            <a:ext cx="6551083" cy="716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he Seasons"/>
              </a:rPr>
              <a:t>Bloom’s Taxonomy</a:t>
            </a:r>
          </a:p>
        </p:txBody>
      </p:sp>
      <p:pic>
        <p:nvPicPr>
          <p:cNvPr id="21510" name="Picture 2" descr="Melding Bloom's Taxonomy and Universal Design for Learning"/>
          <p:cNvPicPr>
            <a:picLocks noChangeAspect="1" noChangeArrowheads="1"/>
          </p:cNvPicPr>
          <p:nvPr/>
        </p:nvPicPr>
        <p:blipFill>
          <a:blip r:embed="rId2">
            <a:extLst>
              <a:ext uri="{28A0092B-C50C-407E-A947-70E740481C1C}">
                <a14:useLocalDpi xmlns:a14="http://schemas.microsoft.com/office/drawing/2010/main" val="0"/>
              </a:ext>
            </a:extLst>
          </a:blip>
          <a:srcRect t="19308"/>
          <a:stretch>
            <a:fillRect/>
          </a:stretch>
        </p:blipFill>
        <p:spPr bwMode="auto">
          <a:xfrm>
            <a:off x="1270000" y="1398771"/>
            <a:ext cx="9753600" cy="509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472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15E02C-2A51-9082-4FFA-A168E6A798FB}"/>
              </a:ext>
            </a:extLst>
          </p:cNvPr>
          <p:cNvSpPr txBox="1"/>
          <p:nvPr/>
        </p:nvSpPr>
        <p:spPr>
          <a:xfrm>
            <a:off x="472391" y="946030"/>
            <a:ext cx="11511062" cy="590931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course outcomes are designed in accordance with Bloom’s Taxonomy up to Level 3 (Apply), emphasizing understanding and application rather than higher-order analysis or creation.</a:t>
            </a:r>
          </a:p>
          <a:p>
            <a:pPr algn="just"/>
            <a:r>
              <a:rPr lang="en-US" sz="2400" b="1" dirty="0">
                <a:latin typeface="Times New Roman" panose="02020603050405020304" pitchFamily="18" charset="0"/>
                <a:cs typeface="Times New Roman" panose="02020603050405020304" pitchFamily="18" charset="0"/>
              </a:rPr>
              <a:t>Bloom’s Taxonomy Example </a:t>
            </a:r>
          </a:p>
          <a:p>
            <a:pPr algn="just"/>
            <a:r>
              <a:rPr lang="en-US" sz="2400" b="1" dirty="0">
                <a:latin typeface="Times New Roman" panose="02020603050405020304" pitchFamily="18" charset="0"/>
                <a:cs typeface="Times New Roman" panose="02020603050405020304" pitchFamily="18" charset="0"/>
              </a:rPr>
              <a:t>Seminar Topic:</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Blockchain Technology in Secure Data Sharing</a:t>
            </a: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Remember (Level 1):</a:t>
            </a:r>
          </a:p>
          <a:p>
            <a:pPr algn="just"/>
            <a:r>
              <a:rPr lang="en-US" sz="2400" dirty="0">
                <a:latin typeface="Times New Roman" panose="02020603050405020304" pitchFamily="18" charset="0"/>
                <a:cs typeface="Times New Roman" panose="02020603050405020304" pitchFamily="18" charset="0"/>
              </a:rPr>
              <a:t>The student </a:t>
            </a:r>
            <a:r>
              <a:rPr lang="en-US" sz="2400" b="1" dirty="0">
                <a:latin typeface="Times New Roman" panose="02020603050405020304" pitchFamily="18" charset="0"/>
                <a:cs typeface="Times New Roman" panose="02020603050405020304" pitchFamily="18" charset="0"/>
              </a:rPr>
              <a:t>identifies</a:t>
            </a:r>
            <a:r>
              <a:rPr lang="en-US" sz="2400" dirty="0">
                <a:latin typeface="Times New Roman" panose="02020603050405020304" pitchFamily="18" charset="0"/>
                <a:cs typeface="Times New Roman" panose="02020603050405020304" pitchFamily="18" charset="0"/>
              </a:rPr>
              <a:t> key concepts such as blockchain, distributed ledger, and consensus mechanisms.</a:t>
            </a:r>
          </a:p>
          <a:p>
            <a:pPr algn="just"/>
            <a:r>
              <a:rPr lang="en-US" sz="2400" b="1" dirty="0">
                <a:latin typeface="Times New Roman" panose="02020603050405020304" pitchFamily="18" charset="0"/>
                <a:cs typeface="Times New Roman" panose="02020603050405020304" pitchFamily="18" charset="0"/>
              </a:rPr>
              <a:t>Understand (Level 2):</a:t>
            </a:r>
          </a:p>
          <a:p>
            <a:pPr algn="just"/>
            <a:r>
              <a:rPr lang="en-US" sz="2400" dirty="0">
                <a:latin typeface="Times New Roman" panose="02020603050405020304" pitchFamily="18" charset="0"/>
                <a:cs typeface="Times New Roman" panose="02020603050405020304" pitchFamily="18" charset="0"/>
              </a:rPr>
              <a:t>The student </a:t>
            </a:r>
            <a:r>
              <a:rPr lang="en-US" sz="2400" b="1" dirty="0">
                <a:latin typeface="Times New Roman" panose="02020603050405020304" pitchFamily="18" charset="0"/>
                <a:cs typeface="Times New Roman" panose="02020603050405020304" pitchFamily="18" charset="0"/>
              </a:rPr>
              <a:t>summarizes</a:t>
            </a:r>
            <a:r>
              <a:rPr lang="en-US" sz="2400" dirty="0">
                <a:latin typeface="Times New Roman" panose="02020603050405020304" pitchFamily="18" charset="0"/>
                <a:cs typeface="Times New Roman" panose="02020603050405020304" pitchFamily="18" charset="0"/>
              </a:rPr>
              <a:t> existing research papers and </a:t>
            </a:r>
            <a:r>
              <a:rPr lang="en-US" sz="2400" b="1" dirty="0">
                <a:latin typeface="Times New Roman" panose="02020603050405020304" pitchFamily="18" charset="0"/>
                <a:cs typeface="Times New Roman" panose="02020603050405020304" pitchFamily="18" charset="0"/>
              </a:rPr>
              <a:t>explains</a:t>
            </a:r>
            <a:r>
              <a:rPr lang="en-US" sz="2400" dirty="0">
                <a:latin typeface="Times New Roman" panose="02020603050405020304" pitchFamily="18" charset="0"/>
                <a:cs typeface="Times New Roman" panose="02020603050405020304" pitchFamily="18" charset="0"/>
              </a:rPr>
              <a:t> how blockchain is used for secure data sharing.</a:t>
            </a:r>
          </a:p>
          <a:p>
            <a:pPr algn="just"/>
            <a:r>
              <a:rPr lang="en-US" sz="2400" b="1" dirty="0">
                <a:latin typeface="Times New Roman" panose="02020603050405020304" pitchFamily="18" charset="0"/>
                <a:cs typeface="Times New Roman" panose="02020603050405020304" pitchFamily="18" charset="0"/>
              </a:rPr>
              <a:t>Apply (Level 3):</a:t>
            </a:r>
          </a:p>
          <a:p>
            <a:pPr algn="just"/>
            <a:r>
              <a:rPr lang="en-US" sz="2400" dirty="0">
                <a:latin typeface="Times New Roman" panose="02020603050405020304" pitchFamily="18" charset="0"/>
                <a:cs typeface="Times New Roman" panose="02020603050405020304" pitchFamily="18" charset="0"/>
              </a:rPr>
              <a:t>The student </a:t>
            </a:r>
            <a:r>
              <a:rPr lang="en-US" sz="2400" b="1" dirty="0">
                <a:latin typeface="Times New Roman" panose="02020603050405020304" pitchFamily="18" charset="0"/>
                <a:cs typeface="Times New Roman" panose="02020603050405020304" pitchFamily="18" charset="0"/>
              </a:rPr>
              <a:t>applies</a:t>
            </a:r>
            <a:r>
              <a:rPr lang="en-US" sz="2400" dirty="0">
                <a:latin typeface="Times New Roman" panose="02020603050405020304" pitchFamily="18" charset="0"/>
                <a:cs typeface="Times New Roman" panose="02020603050405020304" pitchFamily="18" charset="0"/>
              </a:rPr>
              <a:t> the discussed concepts by </a:t>
            </a:r>
            <a:r>
              <a:rPr lang="en-US" sz="2400" b="1" dirty="0">
                <a:latin typeface="Times New Roman" panose="02020603050405020304" pitchFamily="18" charset="0"/>
                <a:cs typeface="Times New Roman" panose="02020603050405020304" pitchFamily="18" charset="0"/>
              </a:rPr>
              <a:t>presenting a use-case workflow</a:t>
            </a:r>
            <a:r>
              <a:rPr lang="en-US" sz="2400" dirty="0">
                <a:latin typeface="Times New Roman" panose="02020603050405020304" pitchFamily="18" charset="0"/>
                <a:cs typeface="Times New Roman" panose="02020603050405020304" pitchFamily="18" charset="0"/>
              </a:rPr>
              <a:t> showing how blockchain can be used for secure data sharing in healthcare systems during the seminar.</a:t>
            </a:r>
          </a:p>
          <a:p>
            <a:pPr algn="just"/>
            <a:endParaRPr lang="en-GB" dirty="0"/>
          </a:p>
        </p:txBody>
      </p:sp>
    </p:spTree>
    <p:extLst>
      <p:ext uri="{BB962C8B-B14F-4D97-AF65-F5344CB8AC3E}">
        <p14:creationId xmlns:p14="http://schemas.microsoft.com/office/powerpoint/2010/main" val="1307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C85EF87-5D4A-D586-A818-9DAF9B181879}"/>
              </a:ext>
            </a:extLst>
          </p:cNvPr>
          <p:cNvSpPr>
            <a:spLocks noGrp="1"/>
          </p:cNvSpPr>
          <p:nvPr>
            <p:ph type="ftr" sz="quarter" idx="11"/>
          </p:nvPr>
        </p:nvSpPr>
        <p:spPr/>
        <p:txBody>
          <a:bodyPr/>
          <a:lstStyle/>
          <a:p>
            <a:r>
              <a:rPr lang="en-IN"/>
              <a:t>1/15</a:t>
            </a:r>
          </a:p>
        </p:txBody>
      </p:sp>
      <p:sp>
        <p:nvSpPr>
          <p:cNvPr id="9" name="TextBox 8">
            <a:extLst>
              <a:ext uri="{FF2B5EF4-FFF2-40B4-BE49-F238E27FC236}">
                <a16:creationId xmlns:a16="http://schemas.microsoft.com/office/drawing/2014/main" id="{46B146AF-ACC4-86D9-15E5-C3023F37B3E1}"/>
              </a:ext>
            </a:extLst>
          </p:cNvPr>
          <p:cNvSpPr txBox="1">
            <a:spLocks noChangeArrowheads="1"/>
          </p:cNvSpPr>
          <p:nvPr/>
        </p:nvSpPr>
        <p:spPr bwMode="auto">
          <a:xfrm>
            <a:off x="693032" y="501642"/>
            <a:ext cx="10582469" cy="698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GB" sz="4400" b="1" dirty="0"/>
              <a:t>References &amp; Research Resources</a:t>
            </a:r>
            <a:endParaRPr lang="en-US" altLang="en-US" sz="4400" b="1" dirty="0">
              <a:solidFill>
                <a:srgbClr val="22222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CC9EC4-C147-5CAE-0BE9-E8175044BB3D}"/>
              </a:ext>
            </a:extLst>
          </p:cNvPr>
          <p:cNvSpPr>
            <a:spLocks noGrp="1"/>
          </p:cNvSpPr>
          <p:nvPr>
            <p:ph idx="1"/>
          </p:nvPr>
        </p:nvSpPr>
        <p:spPr>
          <a:xfrm>
            <a:off x="232410" y="2065655"/>
            <a:ext cx="12302490" cy="4351338"/>
          </a:xfrm>
        </p:spPr>
        <p:txBody>
          <a:bodyPr>
            <a:normAutofit fontScale="92500" lnSpcReduction="20000"/>
          </a:bodyPr>
          <a:lstStyle/>
          <a:p>
            <a:pPr marL="0" indent="0">
              <a:buNone/>
            </a:pPr>
            <a:r>
              <a:rPr lang="en-US" dirty="0"/>
              <a:t>IEEE Xplore Digital Library – </a:t>
            </a:r>
            <a:r>
              <a:rPr lang="en-US" dirty="0">
                <a:hlinkClick r:id="rId2"/>
              </a:rPr>
              <a:t>https://ieeexplore.ieee.org</a:t>
            </a:r>
            <a:endParaRPr lang="en-US" dirty="0"/>
          </a:p>
          <a:p>
            <a:pPr marL="0" indent="0">
              <a:buNone/>
            </a:pPr>
            <a:r>
              <a:rPr lang="en-US" dirty="0"/>
              <a:t>ACM Digital Library – </a:t>
            </a:r>
            <a:r>
              <a:rPr lang="en-US" dirty="0">
                <a:hlinkClick r:id="rId3"/>
              </a:rPr>
              <a:t>https://dl.acm.org</a:t>
            </a:r>
            <a:endParaRPr lang="en-US" dirty="0"/>
          </a:p>
          <a:p>
            <a:pPr marL="0" indent="0">
              <a:buNone/>
            </a:pPr>
            <a:r>
              <a:rPr lang="en-US" dirty="0"/>
              <a:t>ScienceDirect (Elsevier) – </a:t>
            </a:r>
            <a:r>
              <a:rPr lang="en-US" dirty="0">
                <a:hlinkClick r:id="rId4"/>
              </a:rPr>
              <a:t>https://www.sciencedirect.com</a:t>
            </a:r>
            <a:endParaRPr lang="en-US" dirty="0"/>
          </a:p>
          <a:p>
            <a:pPr marL="0" indent="0">
              <a:buNone/>
            </a:pPr>
            <a:r>
              <a:rPr lang="en-US" dirty="0"/>
              <a:t>SpringerLink – </a:t>
            </a:r>
            <a:r>
              <a:rPr lang="en-US" dirty="0">
                <a:hlinkClick r:id="rId5"/>
              </a:rPr>
              <a:t>https://link.springer.com</a:t>
            </a:r>
            <a:endParaRPr lang="en-US" dirty="0"/>
          </a:p>
          <a:p>
            <a:pPr marL="0" indent="0">
              <a:buNone/>
            </a:pPr>
            <a:r>
              <a:rPr lang="en-US" dirty="0"/>
              <a:t>Google Scholar – </a:t>
            </a:r>
            <a:r>
              <a:rPr lang="en-US" dirty="0">
                <a:hlinkClick r:id="rId6"/>
              </a:rPr>
              <a:t>https://scholar.google.com</a:t>
            </a:r>
            <a:endParaRPr lang="en-US" dirty="0"/>
          </a:p>
          <a:p>
            <a:pPr marL="0" indent="0">
              <a:buNone/>
            </a:pPr>
            <a:r>
              <a:rPr lang="en-US" b="1" dirty="0"/>
              <a:t>AWS Whitepapers &amp; Documentation</a:t>
            </a:r>
          </a:p>
          <a:p>
            <a:pPr marL="0" indent="0">
              <a:buNone/>
            </a:pPr>
            <a:r>
              <a:rPr lang="en-US" dirty="0"/>
              <a:t>https://docs.aws.amazon.com/whitepapers</a:t>
            </a:r>
          </a:p>
          <a:p>
            <a:pPr marL="0" indent="0">
              <a:buNone/>
            </a:pPr>
            <a:r>
              <a:rPr lang="en-US" b="1" dirty="0"/>
              <a:t>Microsoft Learn / Azure Docs</a:t>
            </a:r>
            <a:r>
              <a:rPr lang="en-US" dirty="0"/>
              <a:t> – </a:t>
            </a:r>
            <a:r>
              <a:rPr lang="en-US" dirty="0">
                <a:hlinkClick r:id="rId7"/>
              </a:rPr>
              <a:t>https://learn.microsoft.com</a:t>
            </a:r>
            <a:endParaRPr lang="en-US" dirty="0"/>
          </a:p>
          <a:p>
            <a:pPr marL="0" indent="0">
              <a:buNone/>
            </a:pPr>
            <a:r>
              <a:rPr lang="en-US" b="1" dirty="0"/>
              <a:t>Google Cloud Architecture Center</a:t>
            </a:r>
            <a:r>
              <a:rPr lang="en-US" dirty="0"/>
              <a:t> – </a:t>
            </a:r>
            <a:r>
              <a:rPr lang="en-US" dirty="0">
                <a:hlinkClick r:id="rId8"/>
              </a:rPr>
              <a:t>https://cloud.google.com/architecture</a:t>
            </a:r>
            <a:endParaRPr lang="en-US" dirty="0"/>
          </a:p>
          <a:p>
            <a:pPr marL="0" indent="0">
              <a:buNone/>
            </a:pPr>
            <a:r>
              <a:rPr lang="en-US" b="1" dirty="0"/>
              <a:t>IBM Research &amp; Redbooks</a:t>
            </a:r>
            <a:r>
              <a:rPr lang="en-US" dirty="0"/>
              <a:t> – https://www.ibm.com/redbooks</a:t>
            </a:r>
          </a:p>
          <a:p>
            <a:pPr marL="0" indent="0">
              <a:buNone/>
            </a:pPr>
            <a:endParaRPr lang="en-US" dirty="0"/>
          </a:p>
          <a:p>
            <a:pPr marL="0" indent="0">
              <a:buNone/>
            </a:pPr>
            <a:endParaRPr lang="en-GB" dirty="0"/>
          </a:p>
        </p:txBody>
      </p:sp>
    </p:spTree>
    <p:extLst>
      <p:ext uri="{BB962C8B-B14F-4D97-AF65-F5344CB8AC3E}">
        <p14:creationId xmlns:p14="http://schemas.microsoft.com/office/powerpoint/2010/main" val="3322225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p:cNvSpPr/>
          <p:nvPr/>
        </p:nvSpPr>
        <p:spPr>
          <a:xfrm>
            <a:off x="2672640" y="2274838"/>
            <a:ext cx="7111304" cy="2308324"/>
          </a:xfrm>
          <a:prstGeom prst="rect">
            <a:avLst/>
          </a:prstGeom>
          <a:ln>
            <a:noFill/>
          </a:ln>
        </p:spPr>
        <p:txBody>
          <a:bodyPr wrap="square" lIns="91440" tIns="45720" rIns="91440" bIns="45720">
            <a:spAutoFit/>
          </a:bodyPr>
          <a:lstStyle/>
          <a:p>
            <a:pPr algn="ctr"/>
            <a:r>
              <a:rPr lang="en-US" sz="72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THANKS</a:t>
            </a:r>
          </a:p>
          <a:p>
            <a:pPr algn="ctr"/>
            <a:r>
              <a:rPr lang="en-IN"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Any Queries!</a:t>
            </a:r>
            <a:endParaRPr lang="en-US" sz="72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3591892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12055</TotalTime>
  <Words>1791</Words>
  <Application>Microsoft Office PowerPoint</Application>
  <PresentationFormat>Widescreen</PresentationFormat>
  <Paragraphs>291</Paragraphs>
  <Slides>24</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Arial MT</vt:lpstr>
      <vt:lpstr>Calibri</vt:lpstr>
      <vt:lpstr>Calibri Light</vt:lpstr>
      <vt:lpstr>Montserrat</vt:lpstr>
      <vt:lpstr>Open Sans</vt:lpstr>
      <vt:lpstr>The Seasons</vt:lpstr>
      <vt:lpstr>Times Neue Roman</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 Description for Placed Students</vt:lpstr>
      <vt:lpstr>PowerPoint Presentation</vt:lpstr>
      <vt:lpstr>CA Description for Non-Placed Students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CSE211</dc:title>
  <dc:creator>lovi raj gupta</dc:creator>
  <cp:lastModifiedBy>g2mpt</cp:lastModifiedBy>
  <cp:revision>105</cp:revision>
  <dcterms:created xsi:type="dcterms:W3CDTF">2024-12-19T08:47:23Z</dcterms:created>
  <dcterms:modified xsi:type="dcterms:W3CDTF">2026-01-13T11:18:25Z</dcterms:modified>
</cp:coreProperties>
</file>